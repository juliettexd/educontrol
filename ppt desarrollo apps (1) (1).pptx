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Blueberry" charset="1" panose="02000500000000000000"/>
      <p:regular r:id="rId20"/>
    </p:embeddedFont>
    <p:embeddedFont>
      <p:font typeface="Dekko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28.png" Type="http://schemas.openxmlformats.org/officeDocument/2006/relationships/image"/><Relationship Id="rId12" Target="../media/image29.svg" Type="http://schemas.openxmlformats.org/officeDocument/2006/relationships/imag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2" Target="../media/image15.pn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svg" Type="http://schemas.openxmlformats.org/officeDocument/2006/relationships/image"/><Relationship Id="rId11" Target="../media/image49.png" Type="http://schemas.openxmlformats.org/officeDocument/2006/relationships/image"/><Relationship Id="rId12" Target="../media/image50.svg" Type="http://schemas.openxmlformats.org/officeDocument/2006/relationships/image"/><Relationship Id="rId13" Target="../media/image8.png" Type="http://schemas.openxmlformats.org/officeDocument/2006/relationships/image"/><Relationship Id="rId14" Target="../media/image9.svg" Type="http://schemas.openxmlformats.org/officeDocument/2006/relationships/image"/><Relationship Id="rId15" Target="../media/image51.png" Type="http://schemas.openxmlformats.org/officeDocument/2006/relationships/imag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45.png" Type="http://schemas.openxmlformats.org/officeDocument/2006/relationships/image"/><Relationship Id="rId8" Target="../media/image46.sv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Relationship Id="rId5" Target="../media/image54.png" Type="http://schemas.openxmlformats.org/officeDocument/2006/relationships/image"/><Relationship Id="rId6" Target="../media/image5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svg" Type="http://schemas.openxmlformats.org/officeDocument/2006/relationships/image"/><Relationship Id="rId11" Target="../media/image60.png" Type="http://schemas.openxmlformats.org/officeDocument/2006/relationships/image"/><Relationship Id="rId12" Target="../media/image61.svg" Type="http://schemas.openxmlformats.org/officeDocument/2006/relationships/image"/><Relationship Id="rId13" Target="../media/image62.png" Type="http://schemas.openxmlformats.org/officeDocument/2006/relationships/image"/><Relationship Id="rId2" Target="../media/image1.jpeg" Type="http://schemas.openxmlformats.org/officeDocument/2006/relationships/image"/><Relationship Id="rId3" Target="../media/image56.png" Type="http://schemas.openxmlformats.org/officeDocument/2006/relationships/image"/><Relationship Id="rId4" Target="../media/image57.svg" Type="http://schemas.openxmlformats.org/officeDocument/2006/relationships/image"/><Relationship Id="rId5" Target="../media/image58.png" Type="http://schemas.openxmlformats.org/officeDocument/2006/relationships/image"/><Relationship Id="rId6" Target="../media/image59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63.png" Type="http://schemas.openxmlformats.org/officeDocument/2006/relationships/image"/><Relationship Id="rId4" Target="../media/image64.png" Type="http://schemas.openxmlformats.org/officeDocument/2006/relationships/image"/><Relationship Id="rId5" Target="../media/image65.png" Type="http://schemas.openxmlformats.org/officeDocument/2006/relationships/image"/><Relationship Id="rId6" Target="../media/image6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11" Target="../media/image67.png" Type="http://schemas.openxmlformats.org/officeDocument/2006/relationships/image"/><Relationship Id="rId12" Target="../media/image8.png" Type="http://schemas.openxmlformats.org/officeDocument/2006/relationships/image"/><Relationship Id="rId13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svg" Type="http://schemas.openxmlformats.org/officeDocument/2006/relationships/image"/><Relationship Id="rId11" Target="../media/image49.png" Type="http://schemas.openxmlformats.org/officeDocument/2006/relationships/image"/><Relationship Id="rId12" Target="../media/image50.svg" Type="http://schemas.openxmlformats.org/officeDocument/2006/relationships/image"/><Relationship Id="rId13" Target="../media/image8.png" Type="http://schemas.openxmlformats.org/officeDocument/2006/relationships/image"/><Relationship Id="rId14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45.png" Type="http://schemas.openxmlformats.org/officeDocument/2006/relationships/image"/><Relationship Id="rId8" Target="../media/image46.sv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svg" Type="http://schemas.openxmlformats.org/officeDocument/2006/relationships/image"/><Relationship Id="rId11" Target="../media/image70.png" Type="http://schemas.openxmlformats.org/officeDocument/2006/relationships/image"/><Relationship Id="rId12" Target="../media/image71.svg" Type="http://schemas.openxmlformats.org/officeDocument/2006/relationships/image"/><Relationship Id="rId2" Target="../media/image15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6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655754"/>
            <a:ext cx="16230600" cy="5164282"/>
          </a:xfrm>
          <a:custGeom>
            <a:avLst/>
            <a:gdLst/>
            <a:ahLst/>
            <a:cxnLst/>
            <a:rect r="r" b="b" t="t" l="l"/>
            <a:pathLst>
              <a:path h="5164282" w="16230600">
                <a:moveTo>
                  <a:pt x="0" y="0"/>
                </a:moveTo>
                <a:lnTo>
                  <a:pt x="16230600" y="0"/>
                </a:lnTo>
                <a:lnTo>
                  <a:pt x="16230600" y="5164282"/>
                </a:lnTo>
                <a:lnTo>
                  <a:pt x="0" y="5164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6968" y="3901207"/>
            <a:ext cx="16230600" cy="5164282"/>
          </a:xfrm>
          <a:custGeom>
            <a:avLst/>
            <a:gdLst/>
            <a:ahLst/>
            <a:cxnLst/>
            <a:rect r="r" b="b" t="t" l="l"/>
            <a:pathLst>
              <a:path h="5164282" w="16230600">
                <a:moveTo>
                  <a:pt x="0" y="0"/>
                </a:moveTo>
                <a:lnTo>
                  <a:pt x="16230600" y="0"/>
                </a:lnTo>
                <a:lnTo>
                  <a:pt x="16230600" y="5164282"/>
                </a:lnTo>
                <a:lnTo>
                  <a:pt x="0" y="5164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61257" y="8310942"/>
            <a:ext cx="1583973" cy="1509094"/>
          </a:xfrm>
          <a:custGeom>
            <a:avLst/>
            <a:gdLst/>
            <a:ahLst/>
            <a:cxnLst/>
            <a:rect r="r" b="b" t="t" l="l"/>
            <a:pathLst>
              <a:path h="1509094" w="1583973">
                <a:moveTo>
                  <a:pt x="0" y="0"/>
                </a:moveTo>
                <a:lnTo>
                  <a:pt x="1583973" y="0"/>
                </a:lnTo>
                <a:lnTo>
                  <a:pt x="1583973" y="1509094"/>
                </a:lnTo>
                <a:lnTo>
                  <a:pt x="0" y="15090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2654" y="375857"/>
            <a:ext cx="17701735" cy="362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60"/>
              </a:lnSpc>
            </a:pPr>
            <a:r>
              <a:rPr lang="en-US" sz="10400">
                <a:solidFill>
                  <a:srgbClr val="FFCEDB"/>
                </a:solidFill>
                <a:latin typeface="Blueberry"/>
                <a:ea typeface="Blueberry"/>
                <a:cs typeface="Blueberry"/>
                <a:sym typeface="Blueberry"/>
              </a:rPr>
              <a:t>Sistema de Gestión Académica para Instituto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093595" y="773033"/>
            <a:ext cx="1583973" cy="1509094"/>
          </a:xfrm>
          <a:custGeom>
            <a:avLst/>
            <a:gdLst/>
            <a:ahLst/>
            <a:cxnLst/>
            <a:rect r="r" b="b" t="t" l="l"/>
            <a:pathLst>
              <a:path h="1509094" w="1583973">
                <a:moveTo>
                  <a:pt x="0" y="0"/>
                </a:moveTo>
                <a:lnTo>
                  <a:pt x="1583973" y="0"/>
                </a:lnTo>
                <a:lnTo>
                  <a:pt x="1583973" y="1509094"/>
                </a:lnTo>
                <a:lnTo>
                  <a:pt x="0" y="15090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813165">
            <a:off x="15659755" y="7722420"/>
            <a:ext cx="1148839" cy="1926407"/>
          </a:xfrm>
          <a:custGeom>
            <a:avLst/>
            <a:gdLst/>
            <a:ahLst/>
            <a:cxnLst/>
            <a:rect r="r" b="b" t="t" l="l"/>
            <a:pathLst>
              <a:path h="1926407" w="1148839">
                <a:moveTo>
                  <a:pt x="0" y="0"/>
                </a:moveTo>
                <a:lnTo>
                  <a:pt x="1148839" y="0"/>
                </a:lnTo>
                <a:lnTo>
                  <a:pt x="1148839" y="1926407"/>
                </a:lnTo>
                <a:lnTo>
                  <a:pt x="0" y="19264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000500" y="4051355"/>
            <a:ext cx="11007787" cy="152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8C213E"/>
                </a:solidFill>
                <a:latin typeface="Blueberry"/>
                <a:ea typeface="Blueberry"/>
                <a:cs typeface="Blueberry"/>
                <a:sym typeface="Blueberry"/>
              </a:rPr>
              <a:t>DESARROLLO DE APLICACIONES MÓVILES</a:t>
            </a:r>
          </a:p>
          <a:p>
            <a:pPr algn="ctr">
              <a:lnSpc>
                <a:spcPts val="616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653640" y="5482644"/>
            <a:ext cx="13580534" cy="388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1.   AREVALO GAVILANO, Fabrizio Alfonso – N00386660 </a:t>
            </a:r>
          </a:p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2.   CABANILLAS RETUERTO, Ana Nicole – N00303679 </a:t>
            </a:r>
          </a:p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3.   CASAPIA PEÑA, Juliette del Pilar – N00334047 </a:t>
            </a:r>
          </a:p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4.   YACTAYO SANCHEZ, Ismael Sebastian – N00372448</a:t>
            </a:r>
          </a:p>
          <a:p>
            <a:pPr algn="ctr">
              <a:lnSpc>
                <a:spcPts val="616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81100" y="3706335"/>
            <a:ext cx="12392684" cy="5678088"/>
            <a:chOff x="0" y="0"/>
            <a:chExt cx="3263917" cy="14954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63917" cy="1495463"/>
            </a:xfrm>
            <a:custGeom>
              <a:avLst/>
              <a:gdLst/>
              <a:ahLst/>
              <a:cxnLst/>
              <a:rect r="r" b="b" t="t" l="l"/>
              <a:pathLst>
                <a:path h="1495463" w="3263917">
                  <a:moveTo>
                    <a:pt x="31861" y="0"/>
                  </a:moveTo>
                  <a:lnTo>
                    <a:pt x="3232056" y="0"/>
                  </a:lnTo>
                  <a:cubicBezTo>
                    <a:pt x="3240506" y="0"/>
                    <a:pt x="3248610" y="3357"/>
                    <a:pt x="3254585" y="9332"/>
                  </a:cubicBezTo>
                  <a:cubicBezTo>
                    <a:pt x="3260560" y="15307"/>
                    <a:pt x="3263917" y="23411"/>
                    <a:pt x="3263917" y="31861"/>
                  </a:cubicBezTo>
                  <a:lnTo>
                    <a:pt x="3263917" y="1463603"/>
                  </a:lnTo>
                  <a:cubicBezTo>
                    <a:pt x="3263917" y="1481199"/>
                    <a:pt x="3249652" y="1495463"/>
                    <a:pt x="3232056" y="1495463"/>
                  </a:cubicBezTo>
                  <a:lnTo>
                    <a:pt x="31861" y="1495463"/>
                  </a:lnTo>
                  <a:cubicBezTo>
                    <a:pt x="23411" y="1495463"/>
                    <a:pt x="15307" y="1492107"/>
                    <a:pt x="9332" y="1486132"/>
                  </a:cubicBezTo>
                  <a:cubicBezTo>
                    <a:pt x="3357" y="1480157"/>
                    <a:pt x="0" y="1472053"/>
                    <a:pt x="0" y="1463603"/>
                  </a:cubicBezTo>
                  <a:lnTo>
                    <a:pt x="0" y="31861"/>
                  </a:lnTo>
                  <a:cubicBezTo>
                    <a:pt x="0" y="23411"/>
                    <a:pt x="3357" y="15307"/>
                    <a:pt x="9332" y="9332"/>
                  </a:cubicBezTo>
                  <a:cubicBezTo>
                    <a:pt x="15307" y="3357"/>
                    <a:pt x="23411" y="0"/>
                    <a:pt x="31861" y="0"/>
                  </a:cubicBezTo>
                  <a:close/>
                </a:path>
              </a:pathLst>
            </a:custGeom>
            <a:solidFill>
              <a:srgbClr val="FFCED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263917" cy="1533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3553935"/>
            <a:ext cx="12392684" cy="5678088"/>
            <a:chOff x="0" y="0"/>
            <a:chExt cx="3263917" cy="14954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63917" cy="1495463"/>
            </a:xfrm>
            <a:custGeom>
              <a:avLst/>
              <a:gdLst/>
              <a:ahLst/>
              <a:cxnLst/>
              <a:rect r="r" b="b" t="t" l="l"/>
              <a:pathLst>
                <a:path h="1495463" w="3263917">
                  <a:moveTo>
                    <a:pt x="31861" y="0"/>
                  </a:moveTo>
                  <a:lnTo>
                    <a:pt x="3232056" y="0"/>
                  </a:lnTo>
                  <a:cubicBezTo>
                    <a:pt x="3240506" y="0"/>
                    <a:pt x="3248610" y="3357"/>
                    <a:pt x="3254585" y="9332"/>
                  </a:cubicBezTo>
                  <a:cubicBezTo>
                    <a:pt x="3260560" y="15307"/>
                    <a:pt x="3263917" y="23411"/>
                    <a:pt x="3263917" y="31861"/>
                  </a:cubicBezTo>
                  <a:lnTo>
                    <a:pt x="3263917" y="1463603"/>
                  </a:lnTo>
                  <a:cubicBezTo>
                    <a:pt x="3263917" y="1481199"/>
                    <a:pt x="3249652" y="1495463"/>
                    <a:pt x="3232056" y="1495463"/>
                  </a:cubicBezTo>
                  <a:lnTo>
                    <a:pt x="31861" y="1495463"/>
                  </a:lnTo>
                  <a:cubicBezTo>
                    <a:pt x="23411" y="1495463"/>
                    <a:pt x="15307" y="1492107"/>
                    <a:pt x="9332" y="1486132"/>
                  </a:cubicBezTo>
                  <a:cubicBezTo>
                    <a:pt x="3357" y="1480157"/>
                    <a:pt x="0" y="1472053"/>
                    <a:pt x="0" y="1463603"/>
                  </a:cubicBezTo>
                  <a:lnTo>
                    <a:pt x="0" y="31861"/>
                  </a:lnTo>
                  <a:cubicBezTo>
                    <a:pt x="0" y="23411"/>
                    <a:pt x="3357" y="15307"/>
                    <a:pt x="9332" y="9332"/>
                  </a:cubicBezTo>
                  <a:cubicBezTo>
                    <a:pt x="15307" y="3357"/>
                    <a:pt x="23411" y="0"/>
                    <a:pt x="3186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63917" cy="1533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051937" y="5049056"/>
            <a:ext cx="10305307" cy="259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El proyecto consiste en el desarrollo de una aplicación móvil para dispositivos Android que permite optimizar la gestión académica de un instituto educativo.</a:t>
            </a:r>
          </a:p>
          <a:p>
            <a:pPr algn="ctr">
              <a:lnSpc>
                <a:spcPts val="5179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-928209">
            <a:off x="682319" y="7701990"/>
            <a:ext cx="1792779" cy="2246079"/>
          </a:xfrm>
          <a:custGeom>
            <a:avLst/>
            <a:gdLst/>
            <a:ahLst/>
            <a:cxnLst/>
            <a:rect r="r" b="b" t="t" l="l"/>
            <a:pathLst>
              <a:path h="2246079" w="1792779">
                <a:moveTo>
                  <a:pt x="0" y="0"/>
                </a:moveTo>
                <a:lnTo>
                  <a:pt x="1792780" y="0"/>
                </a:lnTo>
                <a:lnTo>
                  <a:pt x="1792780" y="2246078"/>
                </a:lnTo>
                <a:lnTo>
                  <a:pt x="0" y="22460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40626" y="1751192"/>
            <a:ext cx="2476083" cy="2057400"/>
          </a:xfrm>
          <a:custGeom>
            <a:avLst/>
            <a:gdLst/>
            <a:ahLst/>
            <a:cxnLst/>
            <a:rect r="r" b="b" t="t" l="l"/>
            <a:pathLst>
              <a:path h="2057400" w="2476083">
                <a:moveTo>
                  <a:pt x="0" y="0"/>
                </a:moveTo>
                <a:lnTo>
                  <a:pt x="2476083" y="0"/>
                </a:lnTo>
                <a:lnTo>
                  <a:pt x="247608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58496" y="801867"/>
            <a:ext cx="11090041" cy="1708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</a:pPr>
            <a:r>
              <a:rPr lang="en-US" sz="10000">
                <a:solidFill>
                  <a:srgbClr val="FFCEDB"/>
                </a:solidFill>
                <a:latin typeface="Blueberry"/>
                <a:ea typeface="Blueberry"/>
                <a:cs typeface="Blueberry"/>
                <a:sym typeface="Blueberry"/>
              </a:rPr>
              <a:t>¿En qué consiste?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290428" y="984415"/>
            <a:ext cx="5991313" cy="9121162"/>
            <a:chOff x="0" y="0"/>
            <a:chExt cx="7988417" cy="12161549"/>
          </a:xfrm>
        </p:grpSpPr>
        <p:grpSp>
          <p:nvGrpSpPr>
            <p:cNvPr name="Group 15" id="15"/>
            <p:cNvGrpSpPr/>
            <p:nvPr/>
          </p:nvGrpSpPr>
          <p:grpSpPr>
            <a:xfrm rot="454859">
              <a:off x="723273" y="381713"/>
              <a:ext cx="6541872" cy="11398123"/>
              <a:chOff x="0" y="0"/>
              <a:chExt cx="1292222" cy="225148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292222" cy="2251481"/>
              </a:xfrm>
              <a:custGeom>
                <a:avLst/>
                <a:gdLst/>
                <a:ahLst/>
                <a:cxnLst/>
                <a:rect r="r" b="b" t="t" l="l"/>
                <a:pathLst>
                  <a:path h="2251481" w="1292222">
                    <a:moveTo>
                      <a:pt x="0" y="0"/>
                    </a:moveTo>
                    <a:lnTo>
                      <a:pt x="1292222" y="0"/>
                    </a:lnTo>
                    <a:lnTo>
                      <a:pt x="1292222" y="2251481"/>
                    </a:lnTo>
                    <a:lnTo>
                      <a:pt x="0" y="2251481"/>
                    </a:lnTo>
                    <a:close/>
                  </a:path>
                </a:pathLst>
              </a:custGeom>
              <a:solidFill>
                <a:srgbClr val="FFCED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292222" cy="22895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443643">
              <a:off x="1069654" y="788947"/>
              <a:ext cx="5872561" cy="10628619"/>
            </a:xfrm>
            <a:custGeom>
              <a:avLst/>
              <a:gdLst/>
              <a:ahLst/>
              <a:cxnLst/>
              <a:rect r="r" b="b" t="t" l="l"/>
              <a:pathLst>
                <a:path h="10628619" w="5872561">
                  <a:moveTo>
                    <a:pt x="0" y="0"/>
                  </a:moveTo>
                  <a:lnTo>
                    <a:pt x="5872561" y="0"/>
                  </a:lnTo>
                  <a:lnTo>
                    <a:pt x="5872561" y="10628620"/>
                  </a:lnTo>
                  <a:lnTo>
                    <a:pt x="0" y="10628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3196" r="-722" b="-13124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-5813165">
            <a:off x="10142794" y="7363682"/>
            <a:ext cx="1148839" cy="1926407"/>
          </a:xfrm>
          <a:custGeom>
            <a:avLst/>
            <a:gdLst/>
            <a:ahLst/>
            <a:cxnLst/>
            <a:rect r="r" b="b" t="t" l="l"/>
            <a:pathLst>
              <a:path h="1926407" w="1148839">
                <a:moveTo>
                  <a:pt x="0" y="0"/>
                </a:moveTo>
                <a:lnTo>
                  <a:pt x="1148839" y="0"/>
                </a:lnTo>
                <a:lnTo>
                  <a:pt x="1148839" y="1926407"/>
                </a:lnTo>
                <a:lnTo>
                  <a:pt x="0" y="19264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73979" y="1609189"/>
            <a:ext cx="10644842" cy="2806367"/>
          </a:xfrm>
          <a:custGeom>
            <a:avLst/>
            <a:gdLst/>
            <a:ahLst/>
            <a:cxnLst/>
            <a:rect r="r" b="b" t="t" l="l"/>
            <a:pathLst>
              <a:path h="2806367" w="10644842">
                <a:moveTo>
                  <a:pt x="0" y="0"/>
                </a:moveTo>
                <a:lnTo>
                  <a:pt x="10644842" y="0"/>
                </a:lnTo>
                <a:lnTo>
                  <a:pt x="10644842" y="2806367"/>
                </a:lnTo>
                <a:lnTo>
                  <a:pt x="0" y="2806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21579" y="1456789"/>
            <a:ext cx="10644842" cy="2806367"/>
          </a:xfrm>
          <a:custGeom>
            <a:avLst/>
            <a:gdLst/>
            <a:ahLst/>
            <a:cxnLst/>
            <a:rect r="r" b="b" t="t" l="l"/>
            <a:pathLst>
              <a:path h="2806367" w="10644842">
                <a:moveTo>
                  <a:pt x="0" y="0"/>
                </a:moveTo>
                <a:lnTo>
                  <a:pt x="10644842" y="0"/>
                </a:lnTo>
                <a:lnTo>
                  <a:pt x="10644842" y="2806367"/>
                </a:lnTo>
                <a:lnTo>
                  <a:pt x="0" y="28063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5143500"/>
            <a:ext cx="7315200" cy="1356637"/>
          </a:xfrm>
          <a:custGeom>
            <a:avLst/>
            <a:gdLst/>
            <a:ahLst/>
            <a:cxnLst/>
            <a:rect r="r" b="b" t="t" l="l"/>
            <a:pathLst>
              <a:path h="1356637" w="7315200">
                <a:moveTo>
                  <a:pt x="0" y="0"/>
                </a:moveTo>
                <a:lnTo>
                  <a:pt x="7315200" y="0"/>
                </a:lnTo>
                <a:lnTo>
                  <a:pt x="7315200" y="1356637"/>
                </a:lnTo>
                <a:lnTo>
                  <a:pt x="0" y="13566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7224037"/>
            <a:ext cx="7315200" cy="1356637"/>
          </a:xfrm>
          <a:custGeom>
            <a:avLst/>
            <a:gdLst/>
            <a:ahLst/>
            <a:cxnLst/>
            <a:rect r="r" b="b" t="t" l="l"/>
            <a:pathLst>
              <a:path h="1356637" w="7315200">
                <a:moveTo>
                  <a:pt x="0" y="0"/>
                </a:moveTo>
                <a:lnTo>
                  <a:pt x="7315200" y="0"/>
                </a:lnTo>
                <a:lnTo>
                  <a:pt x="7315200" y="1356637"/>
                </a:lnTo>
                <a:lnTo>
                  <a:pt x="0" y="13566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44100" y="5141478"/>
            <a:ext cx="7315200" cy="1356637"/>
          </a:xfrm>
          <a:custGeom>
            <a:avLst/>
            <a:gdLst/>
            <a:ahLst/>
            <a:cxnLst/>
            <a:rect r="r" b="b" t="t" l="l"/>
            <a:pathLst>
              <a:path h="1356637" w="7315200">
                <a:moveTo>
                  <a:pt x="0" y="0"/>
                </a:moveTo>
                <a:lnTo>
                  <a:pt x="7315200" y="0"/>
                </a:lnTo>
                <a:lnTo>
                  <a:pt x="7315200" y="1356637"/>
                </a:lnTo>
                <a:lnTo>
                  <a:pt x="0" y="13566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813165">
            <a:off x="13644522" y="8281146"/>
            <a:ext cx="1148839" cy="1926407"/>
          </a:xfrm>
          <a:custGeom>
            <a:avLst/>
            <a:gdLst/>
            <a:ahLst/>
            <a:cxnLst/>
            <a:rect r="r" b="b" t="t" l="l"/>
            <a:pathLst>
              <a:path h="1926407" w="1148839">
                <a:moveTo>
                  <a:pt x="0" y="0"/>
                </a:moveTo>
                <a:lnTo>
                  <a:pt x="1148839" y="0"/>
                </a:lnTo>
                <a:lnTo>
                  <a:pt x="1148839" y="1926407"/>
                </a:lnTo>
                <a:lnTo>
                  <a:pt x="0" y="19264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120220" y="2627043"/>
            <a:ext cx="1707518" cy="1636113"/>
          </a:xfrm>
          <a:custGeom>
            <a:avLst/>
            <a:gdLst/>
            <a:ahLst/>
            <a:cxnLst/>
            <a:rect r="r" b="b" t="t" l="l"/>
            <a:pathLst>
              <a:path h="1636113" w="1707518">
                <a:moveTo>
                  <a:pt x="0" y="0"/>
                </a:moveTo>
                <a:lnTo>
                  <a:pt x="1707518" y="0"/>
                </a:lnTo>
                <a:lnTo>
                  <a:pt x="1707518" y="1636113"/>
                </a:lnTo>
                <a:lnTo>
                  <a:pt x="0" y="163611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600305" y="1028700"/>
            <a:ext cx="2628483" cy="2184031"/>
          </a:xfrm>
          <a:custGeom>
            <a:avLst/>
            <a:gdLst/>
            <a:ahLst/>
            <a:cxnLst/>
            <a:rect r="r" b="b" t="t" l="l"/>
            <a:pathLst>
              <a:path h="2184031" w="2628483">
                <a:moveTo>
                  <a:pt x="0" y="0"/>
                </a:moveTo>
                <a:lnTo>
                  <a:pt x="2628483" y="0"/>
                </a:lnTo>
                <a:lnTo>
                  <a:pt x="2628483" y="2184031"/>
                </a:lnTo>
                <a:lnTo>
                  <a:pt x="0" y="218403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376132" y="1910671"/>
            <a:ext cx="9535737" cy="1708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</a:pPr>
            <a:r>
              <a:rPr lang="en-US" sz="10000">
                <a:solidFill>
                  <a:srgbClr val="FFCEDB"/>
                </a:solidFill>
                <a:latin typeface="Blueberry"/>
                <a:ea typeface="Blueberry"/>
                <a:cs typeface="Blueberry"/>
                <a:sym typeface="Blueberry"/>
              </a:rPr>
              <a:t>Se utilizó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85730" y="5338166"/>
            <a:ext cx="5088311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Android Studio Panda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18311" y="7381712"/>
            <a:ext cx="384077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Kotlin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73769" y="5328641"/>
            <a:ext cx="384077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AWS Academy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944100" y="7194566"/>
            <a:ext cx="7315200" cy="1356637"/>
          </a:xfrm>
          <a:custGeom>
            <a:avLst/>
            <a:gdLst/>
            <a:ahLst/>
            <a:cxnLst/>
            <a:rect r="r" b="b" t="t" l="l"/>
            <a:pathLst>
              <a:path h="1356637" w="7315200">
                <a:moveTo>
                  <a:pt x="0" y="0"/>
                </a:moveTo>
                <a:lnTo>
                  <a:pt x="7315200" y="0"/>
                </a:lnTo>
                <a:lnTo>
                  <a:pt x="7315200" y="1356637"/>
                </a:lnTo>
                <a:lnTo>
                  <a:pt x="0" y="13566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833711" y="7352241"/>
            <a:ext cx="384077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Lambda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96358" y="4933896"/>
            <a:ext cx="7579985" cy="4324404"/>
            <a:chOff x="0" y="0"/>
            <a:chExt cx="1724884" cy="9840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4884" cy="984051"/>
            </a:xfrm>
            <a:custGeom>
              <a:avLst/>
              <a:gdLst/>
              <a:ahLst/>
              <a:cxnLst/>
              <a:rect r="r" b="b" t="t" l="l"/>
              <a:pathLst>
                <a:path h="984051" w="1724884">
                  <a:moveTo>
                    <a:pt x="1564864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824031"/>
                  </a:lnTo>
                  <a:lnTo>
                    <a:pt x="160020" y="984051"/>
                  </a:lnTo>
                  <a:lnTo>
                    <a:pt x="1564864" y="984051"/>
                  </a:lnTo>
                  <a:lnTo>
                    <a:pt x="1724884" y="824031"/>
                  </a:lnTo>
                  <a:lnTo>
                    <a:pt x="1724884" y="160020"/>
                  </a:lnTo>
                  <a:lnTo>
                    <a:pt x="1564864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C213E"/>
              </a:solidFill>
              <a:prstDash val="dash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63500" y="25400"/>
              <a:ext cx="1597884" cy="895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411658" y="4933896"/>
            <a:ext cx="7579985" cy="4324404"/>
            <a:chOff x="0" y="0"/>
            <a:chExt cx="1724884" cy="9840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24884" cy="984051"/>
            </a:xfrm>
            <a:custGeom>
              <a:avLst/>
              <a:gdLst/>
              <a:ahLst/>
              <a:cxnLst/>
              <a:rect r="r" b="b" t="t" l="l"/>
              <a:pathLst>
                <a:path h="984051" w="1724884">
                  <a:moveTo>
                    <a:pt x="1564864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824031"/>
                  </a:lnTo>
                  <a:lnTo>
                    <a:pt x="160020" y="984051"/>
                  </a:lnTo>
                  <a:lnTo>
                    <a:pt x="1564864" y="984051"/>
                  </a:lnTo>
                  <a:lnTo>
                    <a:pt x="1724884" y="824031"/>
                  </a:lnTo>
                  <a:lnTo>
                    <a:pt x="1724884" y="160020"/>
                  </a:lnTo>
                  <a:lnTo>
                    <a:pt x="1564864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C213E"/>
              </a:solidFill>
              <a:prstDash val="dash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63500" y="25400"/>
              <a:ext cx="1597884" cy="895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846086" y="1181100"/>
            <a:ext cx="9435944" cy="2487658"/>
          </a:xfrm>
          <a:custGeom>
            <a:avLst/>
            <a:gdLst/>
            <a:ahLst/>
            <a:cxnLst/>
            <a:rect r="r" b="b" t="t" l="l"/>
            <a:pathLst>
              <a:path h="2487658" w="9435944">
                <a:moveTo>
                  <a:pt x="0" y="0"/>
                </a:moveTo>
                <a:lnTo>
                  <a:pt x="9435943" y="0"/>
                </a:lnTo>
                <a:lnTo>
                  <a:pt x="9435943" y="2487658"/>
                </a:lnTo>
                <a:lnTo>
                  <a:pt x="0" y="24876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693686" y="1028700"/>
            <a:ext cx="9435944" cy="2487658"/>
          </a:xfrm>
          <a:custGeom>
            <a:avLst/>
            <a:gdLst/>
            <a:ahLst/>
            <a:cxnLst/>
            <a:rect r="r" b="b" t="t" l="l"/>
            <a:pathLst>
              <a:path h="2487658" w="9435944">
                <a:moveTo>
                  <a:pt x="0" y="0"/>
                </a:moveTo>
                <a:lnTo>
                  <a:pt x="9435943" y="0"/>
                </a:lnTo>
                <a:lnTo>
                  <a:pt x="9435943" y="2487658"/>
                </a:lnTo>
                <a:lnTo>
                  <a:pt x="0" y="24876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070409" y="5393696"/>
            <a:ext cx="6262483" cy="334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Desarrollar una aplicación móvil que centralice toda la información académica mediante servicios en la nube, permitiendo una administración rápida, segura y accesible desde cualquier dispositivo autorizado.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5813165">
            <a:off x="15659755" y="7722420"/>
            <a:ext cx="1148839" cy="1926407"/>
          </a:xfrm>
          <a:custGeom>
            <a:avLst/>
            <a:gdLst/>
            <a:ahLst/>
            <a:cxnLst/>
            <a:rect r="r" b="b" t="t" l="l"/>
            <a:pathLst>
              <a:path h="1926407" w="1148839">
                <a:moveTo>
                  <a:pt x="0" y="0"/>
                </a:moveTo>
                <a:lnTo>
                  <a:pt x="1148839" y="0"/>
                </a:lnTo>
                <a:lnTo>
                  <a:pt x="1148839" y="1926407"/>
                </a:lnTo>
                <a:lnTo>
                  <a:pt x="0" y="19264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189277" y="2272529"/>
            <a:ext cx="1794146" cy="1614732"/>
          </a:xfrm>
          <a:custGeom>
            <a:avLst/>
            <a:gdLst/>
            <a:ahLst/>
            <a:cxnLst/>
            <a:rect r="r" b="b" t="t" l="l"/>
            <a:pathLst>
              <a:path h="1614732" w="1794146">
                <a:moveTo>
                  <a:pt x="0" y="0"/>
                </a:moveTo>
                <a:lnTo>
                  <a:pt x="1794146" y="0"/>
                </a:lnTo>
                <a:lnTo>
                  <a:pt x="1794146" y="1614732"/>
                </a:lnTo>
                <a:lnTo>
                  <a:pt x="0" y="161473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18385" y="7587824"/>
            <a:ext cx="2473447" cy="2307052"/>
          </a:xfrm>
          <a:custGeom>
            <a:avLst/>
            <a:gdLst/>
            <a:ahLst/>
            <a:cxnLst/>
            <a:rect r="r" b="b" t="t" l="l"/>
            <a:pathLst>
              <a:path h="2307052" w="2473447">
                <a:moveTo>
                  <a:pt x="0" y="0"/>
                </a:moveTo>
                <a:lnTo>
                  <a:pt x="2473447" y="0"/>
                </a:lnTo>
                <a:lnTo>
                  <a:pt x="2473447" y="2307052"/>
                </a:lnTo>
                <a:lnTo>
                  <a:pt x="0" y="23070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652361" y="589780"/>
            <a:ext cx="11556687" cy="3479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</a:pPr>
            <a:r>
              <a:rPr lang="en-US" sz="10000">
                <a:solidFill>
                  <a:srgbClr val="FFCEDB"/>
                </a:solidFill>
                <a:latin typeface="Blueberry"/>
                <a:ea typeface="Blueberry"/>
                <a:cs typeface="Blueberry"/>
                <a:sym typeface="Blueberry"/>
              </a:rPr>
              <a:t>Problemática y solución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55109" y="5374646"/>
            <a:ext cx="6262483" cy="347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Los procesos académicos del instituto se realizan de manera poco eficiente, generando retrasos, duplicidad de información y dificultades para acceder a los datos académicos.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4518195" y="2626844"/>
            <a:ext cx="2473447" cy="2307052"/>
          </a:xfrm>
          <a:custGeom>
            <a:avLst/>
            <a:gdLst/>
            <a:ahLst/>
            <a:cxnLst/>
            <a:rect r="r" b="b" t="t" l="l"/>
            <a:pathLst>
              <a:path h="2307052" w="2473447">
                <a:moveTo>
                  <a:pt x="0" y="0"/>
                </a:moveTo>
                <a:lnTo>
                  <a:pt x="2473447" y="0"/>
                </a:lnTo>
                <a:lnTo>
                  <a:pt x="2473447" y="2307052"/>
                </a:lnTo>
                <a:lnTo>
                  <a:pt x="0" y="23070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45540" y="2793892"/>
            <a:ext cx="12415378" cy="6971960"/>
          </a:xfrm>
          <a:custGeom>
            <a:avLst/>
            <a:gdLst/>
            <a:ahLst/>
            <a:cxnLst/>
            <a:rect r="r" b="b" t="t" l="l"/>
            <a:pathLst>
              <a:path h="6971960" w="12415378">
                <a:moveTo>
                  <a:pt x="0" y="0"/>
                </a:moveTo>
                <a:lnTo>
                  <a:pt x="12415378" y="0"/>
                </a:lnTo>
                <a:lnTo>
                  <a:pt x="12415378" y="6971961"/>
                </a:lnTo>
                <a:lnTo>
                  <a:pt x="0" y="69719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60950" y="2793892"/>
            <a:ext cx="12086669" cy="6787371"/>
          </a:xfrm>
          <a:custGeom>
            <a:avLst/>
            <a:gdLst/>
            <a:ahLst/>
            <a:cxnLst/>
            <a:rect r="r" b="b" t="t" l="l"/>
            <a:pathLst>
              <a:path h="6787371" w="12086669">
                <a:moveTo>
                  <a:pt x="0" y="0"/>
                </a:moveTo>
                <a:lnTo>
                  <a:pt x="12086669" y="0"/>
                </a:lnTo>
                <a:lnTo>
                  <a:pt x="12086669" y="6787371"/>
                </a:lnTo>
                <a:lnTo>
                  <a:pt x="0" y="67873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45211" y="3568821"/>
            <a:ext cx="9502640" cy="597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La aplicación cuenta con un sistema de autenticación mediante usuario y contraseña.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Después del inicio de sesión, el sistema identifica automáticamente el rol del usuario y muestra únicamente las funcionalidades autorizadas.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Los perfiles implementados son: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Administrador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Docente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Estudiante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-5813165">
            <a:off x="15285611" y="7961946"/>
            <a:ext cx="1208237" cy="2026007"/>
          </a:xfrm>
          <a:custGeom>
            <a:avLst/>
            <a:gdLst/>
            <a:ahLst/>
            <a:cxnLst/>
            <a:rect r="r" b="b" t="t" l="l"/>
            <a:pathLst>
              <a:path h="2026007" w="1208237">
                <a:moveTo>
                  <a:pt x="0" y="0"/>
                </a:moveTo>
                <a:lnTo>
                  <a:pt x="1208237" y="0"/>
                </a:lnTo>
                <a:lnTo>
                  <a:pt x="1208237" y="2026008"/>
                </a:lnTo>
                <a:lnTo>
                  <a:pt x="0" y="20260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70468" y="419308"/>
            <a:ext cx="6034863" cy="9448383"/>
            <a:chOff x="0" y="0"/>
            <a:chExt cx="8046484" cy="12597845"/>
          </a:xfrm>
        </p:grpSpPr>
        <p:grpSp>
          <p:nvGrpSpPr>
            <p:cNvPr name="Group 9" id="9"/>
            <p:cNvGrpSpPr/>
            <p:nvPr/>
          </p:nvGrpSpPr>
          <p:grpSpPr>
            <a:xfrm rot="454859">
              <a:off x="752306" y="379789"/>
              <a:ext cx="6541872" cy="11838266"/>
              <a:chOff x="0" y="0"/>
              <a:chExt cx="1292222" cy="233842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292222" cy="2338423"/>
              </a:xfrm>
              <a:custGeom>
                <a:avLst/>
                <a:gdLst/>
                <a:ahLst/>
                <a:cxnLst/>
                <a:rect r="r" b="b" t="t" l="l"/>
                <a:pathLst>
                  <a:path h="2338423" w="1292222">
                    <a:moveTo>
                      <a:pt x="0" y="0"/>
                    </a:moveTo>
                    <a:lnTo>
                      <a:pt x="1292222" y="0"/>
                    </a:lnTo>
                    <a:lnTo>
                      <a:pt x="1292222" y="2338423"/>
                    </a:lnTo>
                    <a:lnTo>
                      <a:pt x="0" y="2338423"/>
                    </a:lnTo>
                    <a:close/>
                  </a:path>
                </a:pathLst>
              </a:custGeom>
              <a:solidFill>
                <a:srgbClr val="FFCED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292222" cy="23765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443643">
              <a:off x="1098688" y="803581"/>
              <a:ext cx="5872561" cy="11037261"/>
            </a:xfrm>
            <a:custGeom>
              <a:avLst/>
              <a:gdLst/>
              <a:ahLst/>
              <a:cxnLst/>
              <a:rect r="r" b="b" t="t" l="l"/>
              <a:pathLst>
                <a:path h="11037261" w="5872561">
                  <a:moveTo>
                    <a:pt x="0" y="0"/>
                  </a:moveTo>
                  <a:lnTo>
                    <a:pt x="5872560" y="0"/>
                  </a:lnTo>
                  <a:lnTo>
                    <a:pt x="5872560" y="11037261"/>
                  </a:lnTo>
                  <a:lnTo>
                    <a:pt x="0" y="11037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0856" r="-722" b="-10787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4300422" y="2300932"/>
            <a:ext cx="1589308" cy="1439046"/>
          </a:xfrm>
          <a:custGeom>
            <a:avLst/>
            <a:gdLst/>
            <a:ahLst/>
            <a:cxnLst/>
            <a:rect r="r" b="b" t="t" l="l"/>
            <a:pathLst>
              <a:path h="1439046" w="1589308">
                <a:moveTo>
                  <a:pt x="0" y="0"/>
                </a:moveTo>
                <a:lnTo>
                  <a:pt x="1589308" y="0"/>
                </a:lnTo>
                <a:lnTo>
                  <a:pt x="1589308" y="1439046"/>
                </a:lnTo>
                <a:lnTo>
                  <a:pt x="0" y="14390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29075" y="7851224"/>
            <a:ext cx="1511176" cy="1368301"/>
          </a:xfrm>
          <a:custGeom>
            <a:avLst/>
            <a:gdLst/>
            <a:ahLst/>
            <a:cxnLst/>
            <a:rect r="r" b="b" t="t" l="l"/>
            <a:pathLst>
              <a:path h="1368301" w="1511176">
                <a:moveTo>
                  <a:pt x="0" y="0"/>
                </a:moveTo>
                <a:lnTo>
                  <a:pt x="1511175" y="0"/>
                </a:lnTo>
                <a:lnTo>
                  <a:pt x="1511175" y="1368301"/>
                </a:lnTo>
                <a:lnTo>
                  <a:pt x="0" y="13683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605331" y="592784"/>
            <a:ext cx="9535737" cy="1708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</a:pPr>
            <a:r>
              <a:rPr lang="en-US" sz="10000">
                <a:solidFill>
                  <a:srgbClr val="FFCEDB"/>
                </a:solidFill>
                <a:latin typeface="Blueberry"/>
                <a:ea typeface="Blueberry"/>
                <a:cs typeface="Blueberry"/>
                <a:sym typeface="Blueberry"/>
              </a:rPr>
              <a:t>Inicio de sesión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8449" y="1171860"/>
            <a:ext cx="9656239" cy="2212157"/>
          </a:xfrm>
          <a:custGeom>
            <a:avLst/>
            <a:gdLst/>
            <a:ahLst/>
            <a:cxnLst/>
            <a:rect r="r" b="b" t="t" l="l"/>
            <a:pathLst>
              <a:path h="2212157" w="9656239">
                <a:moveTo>
                  <a:pt x="0" y="0"/>
                </a:moveTo>
                <a:lnTo>
                  <a:pt x="9656239" y="0"/>
                </a:lnTo>
                <a:lnTo>
                  <a:pt x="9656239" y="2212156"/>
                </a:lnTo>
                <a:lnTo>
                  <a:pt x="0" y="2212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3284" y="4291314"/>
            <a:ext cx="9221696" cy="554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El administrador posee el control total del sistema.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Funciones principales: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Gestión de estudiantes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Gestión de docentes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Gestión de matrículas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Gestión de horarios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Gestión de cursos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Administración general del sistema</a:t>
            </a:r>
          </a:p>
          <a:p>
            <a:pPr algn="ctr">
              <a:lnSpc>
                <a:spcPts val="490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-5813165">
            <a:off x="9594706" y="8057880"/>
            <a:ext cx="1148839" cy="1926407"/>
          </a:xfrm>
          <a:custGeom>
            <a:avLst/>
            <a:gdLst/>
            <a:ahLst/>
            <a:cxnLst/>
            <a:rect r="r" b="b" t="t" l="l"/>
            <a:pathLst>
              <a:path h="1926407" w="1148839">
                <a:moveTo>
                  <a:pt x="0" y="0"/>
                </a:moveTo>
                <a:lnTo>
                  <a:pt x="1148839" y="0"/>
                </a:lnTo>
                <a:lnTo>
                  <a:pt x="1148839" y="1926406"/>
                </a:lnTo>
                <a:lnTo>
                  <a:pt x="0" y="19264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3605" y="2605160"/>
            <a:ext cx="1442667" cy="1306270"/>
          </a:xfrm>
          <a:custGeom>
            <a:avLst/>
            <a:gdLst/>
            <a:ahLst/>
            <a:cxnLst/>
            <a:rect r="r" b="b" t="t" l="l"/>
            <a:pathLst>
              <a:path h="1306270" w="1442667">
                <a:moveTo>
                  <a:pt x="0" y="0"/>
                </a:moveTo>
                <a:lnTo>
                  <a:pt x="1442668" y="0"/>
                </a:lnTo>
                <a:lnTo>
                  <a:pt x="1442668" y="1306269"/>
                </a:lnTo>
                <a:lnTo>
                  <a:pt x="0" y="13062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580293" y="275957"/>
            <a:ext cx="4906404" cy="9565258"/>
            <a:chOff x="0" y="0"/>
            <a:chExt cx="1292222" cy="25192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2222" cy="2519245"/>
            </a:xfrm>
            <a:custGeom>
              <a:avLst/>
              <a:gdLst/>
              <a:ahLst/>
              <a:cxnLst/>
              <a:rect r="r" b="b" t="t" l="l"/>
              <a:pathLst>
                <a:path h="2519245" w="1292222">
                  <a:moveTo>
                    <a:pt x="0" y="0"/>
                  </a:moveTo>
                  <a:lnTo>
                    <a:pt x="1292222" y="0"/>
                  </a:lnTo>
                  <a:lnTo>
                    <a:pt x="1292222" y="2519245"/>
                  </a:lnTo>
                  <a:lnTo>
                    <a:pt x="0" y="2519245"/>
                  </a:lnTo>
                  <a:close/>
                </a:path>
              </a:pathLst>
            </a:custGeom>
            <a:solidFill>
              <a:srgbClr val="FFCED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92222" cy="2557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899329" y="629635"/>
            <a:ext cx="4268330" cy="8857901"/>
          </a:xfrm>
          <a:custGeom>
            <a:avLst/>
            <a:gdLst/>
            <a:ahLst/>
            <a:cxnLst/>
            <a:rect r="r" b="b" t="t" l="l"/>
            <a:pathLst>
              <a:path h="8857901" w="4268330">
                <a:moveTo>
                  <a:pt x="0" y="0"/>
                </a:moveTo>
                <a:lnTo>
                  <a:pt x="4268331" y="0"/>
                </a:lnTo>
                <a:lnTo>
                  <a:pt x="4268331" y="8857901"/>
                </a:lnTo>
                <a:lnTo>
                  <a:pt x="0" y="88579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40" t="-796" r="0" b="-573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3605" y="1215850"/>
            <a:ext cx="11556687" cy="164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0"/>
              </a:lnSpc>
            </a:pPr>
            <a:r>
              <a:rPr lang="en-US" sz="9600">
                <a:solidFill>
                  <a:srgbClr val="FFCEDB"/>
                </a:solidFill>
                <a:latin typeface="Blueberry"/>
                <a:ea typeface="Blueberry"/>
                <a:cs typeface="Blueberry"/>
                <a:sym typeface="Blueberry"/>
              </a:rPr>
              <a:t>Administrador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54175" y="1031977"/>
            <a:ext cx="4219610" cy="8226323"/>
            <a:chOff x="0" y="0"/>
            <a:chExt cx="1292222" cy="25192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2222" cy="2519245"/>
            </a:xfrm>
            <a:custGeom>
              <a:avLst/>
              <a:gdLst/>
              <a:ahLst/>
              <a:cxnLst/>
              <a:rect r="r" b="b" t="t" l="l"/>
              <a:pathLst>
                <a:path h="2519245" w="1292222">
                  <a:moveTo>
                    <a:pt x="0" y="0"/>
                  </a:moveTo>
                  <a:lnTo>
                    <a:pt x="1292222" y="0"/>
                  </a:lnTo>
                  <a:lnTo>
                    <a:pt x="1292222" y="2519245"/>
                  </a:lnTo>
                  <a:lnTo>
                    <a:pt x="0" y="2519245"/>
                  </a:lnTo>
                  <a:close/>
                </a:path>
              </a:pathLst>
            </a:custGeom>
            <a:solidFill>
              <a:srgbClr val="FFCED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92222" cy="2557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64352" y="1250136"/>
            <a:ext cx="3760982" cy="7774640"/>
          </a:xfrm>
          <a:custGeom>
            <a:avLst/>
            <a:gdLst/>
            <a:ahLst/>
            <a:cxnLst/>
            <a:rect r="r" b="b" t="t" l="l"/>
            <a:pathLst>
              <a:path h="7774640" w="3760982">
                <a:moveTo>
                  <a:pt x="0" y="0"/>
                </a:moveTo>
                <a:lnTo>
                  <a:pt x="3760982" y="0"/>
                </a:lnTo>
                <a:lnTo>
                  <a:pt x="3760982" y="7774640"/>
                </a:lnTo>
                <a:lnTo>
                  <a:pt x="0" y="7774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952303" y="1031977"/>
            <a:ext cx="4219610" cy="8226323"/>
            <a:chOff x="0" y="0"/>
            <a:chExt cx="1292222" cy="25192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2222" cy="2519245"/>
            </a:xfrm>
            <a:custGeom>
              <a:avLst/>
              <a:gdLst/>
              <a:ahLst/>
              <a:cxnLst/>
              <a:rect r="r" b="b" t="t" l="l"/>
              <a:pathLst>
                <a:path h="2519245" w="1292222">
                  <a:moveTo>
                    <a:pt x="0" y="0"/>
                  </a:moveTo>
                  <a:lnTo>
                    <a:pt x="1292222" y="0"/>
                  </a:lnTo>
                  <a:lnTo>
                    <a:pt x="1292222" y="2519245"/>
                  </a:lnTo>
                  <a:lnTo>
                    <a:pt x="0" y="2519245"/>
                  </a:lnTo>
                  <a:close/>
                </a:path>
              </a:pathLst>
            </a:custGeom>
            <a:solidFill>
              <a:srgbClr val="FFCED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92222" cy="2557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50431" y="1031977"/>
            <a:ext cx="4219610" cy="8226323"/>
            <a:chOff x="0" y="0"/>
            <a:chExt cx="1292222" cy="25192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92222" cy="2519245"/>
            </a:xfrm>
            <a:custGeom>
              <a:avLst/>
              <a:gdLst/>
              <a:ahLst/>
              <a:cxnLst/>
              <a:rect r="r" b="b" t="t" l="l"/>
              <a:pathLst>
                <a:path h="2519245" w="1292222">
                  <a:moveTo>
                    <a:pt x="0" y="0"/>
                  </a:moveTo>
                  <a:lnTo>
                    <a:pt x="1292222" y="0"/>
                  </a:lnTo>
                  <a:lnTo>
                    <a:pt x="1292222" y="2519245"/>
                  </a:lnTo>
                  <a:lnTo>
                    <a:pt x="0" y="2519245"/>
                  </a:lnTo>
                  <a:close/>
                </a:path>
              </a:pathLst>
            </a:custGeom>
            <a:solidFill>
              <a:srgbClr val="FFCED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92222" cy="2557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125981" y="1250136"/>
            <a:ext cx="3872464" cy="7774640"/>
          </a:xfrm>
          <a:custGeom>
            <a:avLst/>
            <a:gdLst/>
            <a:ahLst/>
            <a:cxnLst/>
            <a:rect r="r" b="b" t="t" l="l"/>
            <a:pathLst>
              <a:path h="7774640" w="3872464">
                <a:moveTo>
                  <a:pt x="0" y="0"/>
                </a:moveTo>
                <a:lnTo>
                  <a:pt x="3872464" y="0"/>
                </a:lnTo>
                <a:lnTo>
                  <a:pt x="3872464" y="7774640"/>
                </a:lnTo>
                <a:lnTo>
                  <a:pt x="0" y="7774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696182" y="1250136"/>
            <a:ext cx="3791672" cy="7806383"/>
          </a:xfrm>
          <a:custGeom>
            <a:avLst/>
            <a:gdLst/>
            <a:ahLst/>
            <a:cxnLst/>
            <a:rect r="r" b="b" t="t" l="l"/>
            <a:pathLst>
              <a:path h="7806383" w="3791672">
                <a:moveTo>
                  <a:pt x="0" y="0"/>
                </a:moveTo>
                <a:lnTo>
                  <a:pt x="3791672" y="0"/>
                </a:lnTo>
                <a:lnTo>
                  <a:pt x="3791672" y="7806383"/>
                </a:lnTo>
                <a:lnTo>
                  <a:pt x="0" y="78063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3849215" y="1024295"/>
            <a:ext cx="4219610" cy="8226323"/>
            <a:chOff x="0" y="0"/>
            <a:chExt cx="1292222" cy="25192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92222" cy="2519245"/>
            </a:xfrm>
            <a:custGeom>
              <a:avLst/>
              <a:gdLst/>
              <a:ahLst/>
              <a:cxnLst/>
              <a:rect r="r" b="b" t="t" l="l"/>
              <a:pathLst>
                <a:path h="2519245" w="1292222">
                  <a:moveTo>
                    <a:pt x="0" y="0"/>
                  </a:moveTo>
                  <a:lnTo>
                    <a:pt x="1292222" y="0"/>
                  </a:lnTo>
                  <a:lnTo>
                    <a:pt x="1292222" y="2519245"/>
                  </a:lnTo>
                  <a:lnTo>
                    <a:pt x="0" y="2519245"/>
                  </a:lnTo>
                  <a:close/>
                </a:path>
              </a:pathLst>
            </a:custGeom>
            <a:solidFill>
              <a:srgbClr val="FFCED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92222" cy="2557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4017849" y="1250136"/>
            <a:ext cx="3882343" cy="7774640"/>
          </a:xfrm>
          <a:custGeom>
            <a:avLst/>
            <a:gdLst/>
            <a:ahLst/>
            <a:cxnLst/>
            <a:rect r="r" b="b" t="t" l="l"/>
            <a:pathLst>
              <a:path h="7774640" w="3882343">
                <a:moveTo>
                  <a:pt x="0" y="0"/>
                </a:moveTo>
                <a:lnTo>
                  <a:pt x="3882343" y="0"/>
                </a:lnTo>
                <a:lnTo>
                  <a:pt x="3882343" y="7774640"/>
                </a:lnTo>
                <a:lnTo>
                  <a:pt x="0" y="7774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18528" y="1077937"/>
            <a:ext cx="9435944" cy="2487658"/>
          </a:xfrm>
          <a:custGeom>
            <a:avLst/>
            <a:gdLst/>
            <a:ahLst/>
            <a:cxnLst/>
            <a:rect r="r" b="b" t="t" l="l"/>
            <a:pathLst>
              <a:path h="2487658" w="9435944">
                <a:moveTo>
                  <a:pt x="0" y="0"/>
                </a:moveTo>
                <a:lnTo>
                  <a:pt x="9435943" y="0"/>
                </a:lnTo>
                <a:lnTo>
                  <a:pt x="9435943" y="2487658"/>
                </a:lnTo>
                <a:lnTo>
                  <a:pt x="0" y="24876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166128" y="925537"/>
            <a:ext cx="9435944" cy="2487658"/>
          </a:xfrm>
          <a:custGeom>
            <a:avLst/>
            <a:gdLst/>
            <a:ahLst/>
            <a:cxnLst/>
            <a:rect r="r" b="b" t="t" l="l"/>
            <a:pathLst>
              <a:path h="2487658" w="9435944">
                <a:moveTo>
                  <a:pt x="0" y="0"/>
                </a:moveTo>
                <a:lnTo>
                  <a:pt x="9435943" y="0"/>
                </a:lnTo>
                <a:lnTo>
                  <a:pt x="9435943" y="2487658"/>
                </a:lnTo>
                <a:lnTo>
                  <a:pt x="0" y="24876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38098" y="1220064"/>
            <a:ext cx="11556687" cy="1708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</a:pPr>
            <a:r>
              <a:rPr lang="en-US" sz="10000">
                <a:solidFill>
                  <a:srgbClr val="FFCEDB"/>
                </a:solidFill>
                <a:latin typeface="Blueberry"/>
                <a:ea typeface="Blueberry"/>
                <a:cs typeface="Blueberry"/>
                <a:sym typeface="Blueberry"/>
              </a:rPr>
              <a:t>Docente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84476" y="3827006"/>
            <a:ext cx="9758649" cy="6224149"/>
            <a:chOff x="0" y="0"/>
            <a:chExt cx="13011532" cy="829886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2685900" cy="8070155"/>
              <a:chOff x="0" y="0"/>
              <a:chExt cx="2613920" cy="166284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613920" cy="1662849"/>
              </a:xfrm>
              <a:custGeom>
                <a:avLst/>
                <a:gdLst/>
                <a:ahLst/>
                <a:cxnLst/>
                <a:rect r="r" b="b" t="t" l="l"/>
                <a:pathLst>
                  <a:path h="1662849" w="2613920">
                    <a:moveTo>
                      <a:pt x="41499" y="0"/>
                    </a:moveTo>
                    <a:lnTo>
                      <a:pt x="2572421" y="0"/>
                    </a:lnTo>
                    <a:cubicBezTo>
                      <a:pt x="2583427" y="0"/>
                      <a:pt x="2593983" y="4372"/>
                      <a:pt x="2601765" y="12155"/>
                    </a:cubicBezTo>
                    <a:cubicBezTo>
                      <a:pt x="2609548" y="19937"/>
                      <a:pt x="2613920" y="30493"/>
                      <a:pt x="2613920" y="41499"/>
                    </a:cubicBezTo>
                    <a:lnTo>
                      <a:pt x="2613920" y="1621350"/>
                    </a:lnTo>
                    <a:cubicBezTo>
                      <a:pt x="2613920" y="1632356"/>
                      <a:pt x="2609548" y="1642912"/>
                      <a:pt x="2601765" y="1650694"/>
                    </a:cubicBezTo>
                    <a:cubicBezTo>
                      <a:pt x="2593983" y="1658477"/>
                      <a:pt x="2583427" y="1662849"/>
                      <a:pt x="2572421" y="1662849"/>
                    </a:cubicBezTo>
                    <a:lnTo>
                      <a:pt x="41499" y="1662849"/>
                    </a:lnTo>
                    <a:cubicBezTo>
                      <a:pt x="30493" y="1662849"/>
                      <a:pt x="19937" y="1658477"/>
                      <a:pt x="12155" y="1650694"/>
                    </a:cubicBezTo>
                    <a:cubicBezTo>
                      <a:pt x="4372" y="1642912"/>
                      <a:pt x="0" y="1632356"/>
                      <a:pt x="0" y="1621350"/>
                    </a:cubicBezTo>
                    <a:lnTo>
                      <a:pt x="0" y="41499"/>
                    </a:lnTo>
                    <a:cubicBezTo>
                      <a:pt x="0" y="30493"/>
                      <a:pt x="4372" y="19937"/>
                      <a:pt x="12155" y="12155"/>
                    </a:cubicBezTo>
                    <a:cubicBezTo>
                      <a:pt x="19937" y="4372"/>
                      <a:pt x="30493" y="0"/>
                      <a:pt x="41499" y="0"/>
                    </a:cubicBezTo>
                    <a:close/>
                  </a:path>
                </a:pathLst>
              </a:custGeom>
              <a:solidFill>
                <a:srgbClr val="FFCEDB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613920" cy="17009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25633" y="228711"/>
              <a:ext cx="12685900" cy="8070155"/>
              <a:chOff x="0" y="0"/>
              <a:chExt cx="2613920" cy="166284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613920" cy="1662849"/>
              </a:xfrm>
              <a:custGeom>
                <a:avLst/>
                <a:gdLst/>
                <a:ahLst/>
                <a:cxnLst/>
                <a:rect r="r" b="b" t="t" l="l"/>
                <a:pathLst>
                  <a:path h="1662849" w="2613920">
                    <a:moveTo>
                      <a:pt x="41499" y="0"/>
                    </a:moveTo>
                    <a:lnTo>
                      <a:pt x="2572421" y="0"/>
                    </a:lnTo>
                    <a:cubicBezTo>
                      <a:pt x="2583427" y="0"/>
                      <a:pt x="2593983" y="4372"/>
                      <a:pt x="2601765" y="12155"/>
                    </a:cubicBezTo>
                    <a:cubicBezTo>
                      <a:pt x="2609548" y="19937"/>
                      <a:pt x="2613920" y="30493"/>
                      <a:pt x="2613920" y="41499"/>
                    </a:cubicBezTo>
                    <a:lnTo>
                      <a:pt x="2613920" y="1621350"/>
                    </a:lnTo>
                    <a:cubicBezTo>
                      <a:pt x="2613920" y="1632356"/>
                      <a:pt x="2609548" y="1642912"/>
                      <a:pt x="2601765" y="1650694"/>
                    </a:cubicBezTo>
                    <a:cubicBezTo>
                      <a:pt x="2593983" y="1658477"/>
                      <a:pt x="2583427" y="1662849"/>
                      <a:pt x="2572421" y="1662849"/>
                    </a:cubicBezTo>
                    <a:lnTo>
                      <a:pt x="41499" y="1662849"/>
                    </a:lnTo>
                    <a:cubicBezTo>
                      <a:pt x="30493" y="1662849"/>
                      <a:pt x="19937" y="1658477"/>
                      <a:pt x="12155" y="1650694"/>
                    </a:cubicBezTo>
                    <a:cubicBezTo>
                      <a:pt x="4372" y="1642912"/>
                      <a:pt x="0" y="1632356"/>
                      <a:pt x="0" y="1621350"/>
                    </a:cubicBezTo>
                    <a:lnTo>
                      <a:pt x="0" y="41499"/>
                    </a:lnTo>
                    <a:cubicBezTo>
                      <a:pt x="0" y="30493"/>
                      <a:pt x="4372" y="19937"/>
                      <a:pt x="12155" y="12155"/>
                    </a:cubicBezTo>
                    <a:cubicBezTo>
                      <a:pt x="19937" y="4372"/>
                      <a:pt x="30493" y="0"/>
                      <a:pt x="4149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613920" cy="17009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4" id="14"/>
          <p:cNvSpPr txBox="true"/>
          <p:nvPr/>
        </p:nvSpPr>
        <p:spPr>
          <a:xfrm rot="0">
            <a:off x="1169091" y="4129405"/>
            <a:ext cx="9233642" cy="615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El docente dispone de herramientas para gestionar sus actividades académicas.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Funciones: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Dashboard principal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Consulta de cursos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Registro de notas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Publicación de avisos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Registro de asistencia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Consulta de información académica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Perfil del profesor</a:t>
            </a:r>
          </a:p>
          <a:p>
            <a:pPr algn="ctr">
              <a:lnSpc>
                <a:spcPts val="4480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-1142132">
            <a:off x="1561658" y="2618775"/>
            <a:ext cx="1928823" cy="897779"/>
          </a:xfrm>
          <a:custGeom>
            <a:avLst/>
            <a:gdLst/>
            <a:ahLst/>
            <a:cxnLst/>
            <a:rect r="r" b="b" t="t" l="l"/>
            <a:pathLst>
              <a:path h="897779" w="1928823">
                <a:moveTo>
                  <a:pt x="0" y="0"/>
                </a:moveTo>
                <a:lnTo>
                  <a:pt x="1928823" y="0"/>
                </a:lnTo>
                <a:lnTo>
                  <a:pt x="1928823" y="897780"/>
                </a:lnTo>
                <a:lnTo>
                  <a:pt x="0" y="8977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435801" y="620405"/>
            <a:ext cx="2056025" cy="1708370"/>
          </a:xfrm>
          <a:custGeom>
            <a:avLst/>
            <a:gdLst/>
            <a:ahLst/>
            <a:cxnLst/>
            <a:rect r="r" b="b" t="t" l="l"/>
            <a:pathLst>
              <a:path h="1708370" w="2056025">
                <a:moveTo>
                  <a:pt x="0" y="0"/>
                </a:moveTo>
                <a:lnTo>
                  <a:pt x="2056025" y="0"/>
                </a:lnTo>
                <a:lnTo>
                  <a:pt x="2056025" y="1708370"/>
                </a:lnTo>
                <a:lnTo>
                  <a:pt x="0" y="17083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84476" y="1028700"/>
            <a:ext cx="1527558" cy="1463678"/>
          </a:xfrm>
          <a:custGeom>
            <a:avLst/>
            <a:gdLst/>
            <a:ahLst/>
            <a:cxnLst/>
            <a:rect r="r" b="b" t="t" l="l"/>
            <a:pathLst>
              <a:path h="1463678" w="1527558">
                <a:moveTo>
                  <a:pt x="0" y="0"/>
                </a:moveTo>
                <a:lnTo>
                  <a:pt x="1527558" y="0"/>
                </a:lnTo>
                <a:lnTo>
                  <a:pt x="1527558" y="1463678"/>
                </a:lnTo>
                <a:lnTo>
                  <a:pt x="0" y="14636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813165">
            <a:off x="10250226" y="5480778"/>
            <a:ext cx="1148839" cy="1926407"/>
          </a:xfrm>
          <a:custGeom>
            <a:avLst/>
            <a:gdLst/>
            <a:ahLst/>
            <a:cxnLst/>
            <a:rect r="r" b="b" t="t" l="l"/>
            <a:pathLst>
              <a:path h="1926407" w="1148839">
                <a:moveTo>
                  <a:pt x="0" y="0"/>
                </a:moveTo>
                <a:lnTo>
                  <a:pt x="1148839" y="0"/>
                </a:lnTo>
                <a:lnTo>
                  <a:pt x="1148839" y="1926407"/>
                </a:lnTo>
                <a:lnTo>
                  <a:pt x="0" y="192640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1142132">
            <a:off x="9203042" y="8858043"/>
            <a:ext cx="1928823" cy="897779"/>
          </a:xfrm>
          <a:custGeom>
            <a:avLst/>
            <a:gdLst/>
            <a:ahLst/>
            <a:cxnLst/>
            <a:rect r="r" b="b" t="t" l="l"/>
            <a:pathLst>
              <a:path h="897779" w="1928823">
                <a:moveTo>
                  <a:pt x="0" y="0"/>
                </a:moveTo>
                <a:lnTo>
                  <a:pt x="1928823" y="0"/>
                </a:lnTo>
                <a:lnTo>
                  <a:pt x="1928823" y="897779"/>
                </a:lnTo>
                <a:lnTo>
                  <a:pt x="0" y="8977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2506997" y="294282"/>
            <a:ext cx="4752303" cy="9717206"/>
            <a:chOff x="0" y="0"/>
            <a:chExt cx="1251635" cy="25592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51635" cy="2559264"/>
            </a:xfrm>
            <a:custGeom>
              <a:avLst/>
              <a:gdLst/>
              <a:ahLst/>
              <a:cxnLst/>
              <a:rect r="r" b="b" t="t" l="l"/>
              <a:pathLst>
                <a:path h="2559264" w="1251635">
                  <a:moveTo>
                    <a:pt x="0" y="0"/>
                  </a:moveTo>
                  <a:lnTo>
                    <a:pt x="1251635" y="0"/>
                  </a:lnTo>
                  <a:lnTo>
                    <a:pt x="1251635" y="2559264"/>
                  </a:lnTo>
                  <a:lnTo>
                    <a:pt x="0" y="2559264"/>
                  </a:lnTo>
                  <a:close/>
                </a:path>
              </a:pathLst>
            </a:custGeom>
            <a:solidFill>
              <a:srgbClr val="FFCED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251635" cy="259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2796323" y="620405"/>
            <a:ext cx="4173651" cy="8995050"/>
          </a:xfrm>
          <a:custGeom>
            <a:avLst/>
            <a:gdLst/>
            <a:ahLst/>
            <a:cxnLst/>
            <a:rect r="r" b="b" t="t" l="l"/>
            <a:pathLst>
              <a:path h="8995050" w="4173651">
                <a:moveTo>
                  <a:pt x="0" y="0"/>
                </a:moveTo>
                <a:lnTo>
                  <a:pt x="4173651" y="0"/>
                </a:lnTo>
                <a:lnTo>
                  <a:pt x="4173651" y="8995050"/>
                </a:lnTo>
                <a:lnTo>
                  <a:pt x="0" y="89950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5090" r="-2982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54175" y="1031977"/>
            <a:ext cx="4219610" cy="8226323"/>
            <a:chOff x="0" y="0"/>
            <a:chExt cx="1292222" cy="25192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2222" cy="2519245"/>
            </a:xfrm>
            <a:custGeom>
              <a:avLst/>
              <a:gdLst/>
              <a:ahLst/>
              <a:cxnLst/>
              <a:rect r="r" b="b" t="t" l="l"/>
              <a:pathLst>
                <a:path h="2519245" w="1292222">
                  <a:moveTo>
                    <a:pt x="0" y="0"/>
                  </a:moveTo>
                  <a:lnTo>
                    <a:pt x="1292222" y="0"/>
                  </a:lnTo>
                  <a:lnTo>
                    <a:pt x="1292222" y="2519245"/>
                  </a:lnTo>
                  <a:lnTo>
                    <a:pt x="0" y="2519245"/>
                  </a:lnTo>
                  <a:close/>
                </a:path>
              </a:pathLst>
            </a:custGeom>
            <a:solidFill>
              <a:srgbClr val="FFCED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92222" cy="2557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952303" y="1031977"/>
            <a:ext cx="4219610" cy="8226323"/>
            <a:chOff x="0" y="0"/>
            <a:chExt cx="1292222" cy="2519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2222" cy="2519245"/>
            </a:xfrm>
            <a:custGeom>
              <a:avLst/>
              <a:gdLst/>
              <a:ahLst/>
              <a:cxnLst/>
              <a:rect r="r" b="b" t="t" l="l"/>
              <a:pathLst>
                <a:path h="2519245" w="1292222">
                  <a:moveTo>
                    <a:pt x="0" y="0"/>
                  </a:moveTo>
                  <a:lnTo>
                    <a:pt x="1292222" y="0"/>
                  </a:lnTo>
                  <a:lnTo>
                    <a:pt x="1292222" y="2519245"/>
                  </a:lnTo>
                  <a:lnTo>
                    <a:pt x="0" y="2519245"/>
                  </a:lnTo>
                  <a:close/>
                </a:path>
              </a:pathLst>
            </a:custGeom>
            <a:solidFill>
              <a:srgbClr val="FFCED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92222" cy="2557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450431" y="1031977"/>
            <a:ext cx="4219610" cy="8226323"/>
            <a:chOff x="0" y="0"/>
            <a:chExt cx="1292222" cy="25192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2222" cy="2519245"/>
            </a:xfrm>
            <a:custGeom>
              <a:avLst/>
              <a:gdLst/>
              <a:ahLst/>
              <a:cxnLst/>
              <a:rect r="r" b="b" t="t" l="l"/>
              <a:pathLst>
                <a:path h="2519245" w="1292222">
                  <a:moveTo>
                    <a:pt x="0" y="0"/>
                  </a:moveTo>
                  <a:lnTo>
                    <a:pt x="1292222" y="0"/>
                  </a:lnTo>
                  <a:lnTo>
                    <a:pt x="1292222" y="2519245"/>
                  </a:lnTo>
                  <a:lnTo>
                    <a:pt x="0" y="2519245"/>
                  </a:lnTo>
                  <a:close/>
                </a:path>
              </a:pathLst>
            </a:custGeom>
            <a:solidFill>
              <a:srgbClr val="FFCED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92222" cy="2557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849215" y="1024295"/>
            <a:ext cx="4219610" cy="8226323"/>
            <a:chOff x="0" y="0"/>
            <a:chExt cx="1292222" cy="25192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92222" cy="2519245"/>
            </a:xfrm>
            <a:custGeom>
              <a:avLst/>
              <a:gdLst/>
              <a:ahLst/>
              <a:cxnLst/>
              <a:rect r="r" b="b" t="t" l="l"/>
              <a:pathLst>
                <a:path h="2519245" w="1292222">
                  <a:moveTo>
                    <a:pt x="0" y="0"/>
                  </a:moveTo>
                  <a:lnTo>
                    <a:pt x="1292222" y="0"/>
                  </a:lnTo>
                  <a:lnTo>
                    <a:pt x="1292222" y="2519245"/>
                  </a:lnTo>
                  <a:lnTo>
                    <a:pt x="0" y="2519245"/>
                  </a:lnTo>
                  <a:close/>
                </a:path>
              </a:pathLst>
            </a:custGeom>
            <a:solidFill>
              <a:srgbClr val="FFCED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292222" cy="2557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76192" y="1250136"/>
            <a:ext cx="3791394" cy="7806383"/>
          </a:xfrm>
          <a:custGeom>
            <a:avLst/>
            <a:gdLst/>
            <a:ahLst/>
            <a:cxnLst/>
            <a:rect r="r" b="b" t="t" l="l"/>
            <a:pathLst>
              <a:path h="7806383" w="3791394">
                <a:moveTo>
                  <a:pt x="0" y="0"/>
                </a:moveTo>
                <a:lnTo>
                  <a:pt x="3791393" y="0"/>
                </a:lnTo>
                <a:lnTo>
                  <a:pt x="3791393" y="7806383"/>
                </a:lnTo>
                <a:lnTo>
                  <a:pt x="0" y="7806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269178" y="1234265"/>
            <a:ext cx="3512872" cy="7806383"/>
          </a:xfrm>
          <a:custGeom>
            <a:avLst/>
            <a:gdLst/>
            <a:ahLst/>
            <a:cxnLst/>
            <a:rect r="r" b="b" t="t" l="l"/>
            <a:pathLst>
              <a:path h="7806383" w="3512872">
                <a:moveTo>
                  <a:pt x="0" y="0"/>
                </a:moveTo>
                <a:lnTo>
                  <a:pt x="3512872" y="0"/>
                </a:lnTo>
                <a:lnTo>
                  <a:pt x="3512872" y="7806383"/>
                </a:lnTo>
                <a:lnTo>
                  <a:pt x="0" y="78063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761270" y="1281879"/>
            <a:ext cx="3498588" cy="7774640"/>
          </a:xfrm>
          <a:custGeom>
            <a:avLst/>
            <a:gdLst/>
            <a:ahLst/>
            <a:cxnLst/>
            <a:rect r="r" b="b" t="t" l="l"/>
            <a:pathLst>
              <a:path h="7774640" w="3498588">
                <a:moveTo>
                  <a:pt x="0" y="0"/>
                </a:moveTo>
                <a:lnTo>
                  <a:pt x="3498588" y="0"/>
                </a:lnTo>
                <a:lnTo>
                  <a:pt x="3498588" y="7774640"/>
                </a:lnTo>
                <a:lnTo>
                  <a:pt x="0" y="7774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260592" y="1250136"/>
            <a:ext cx="3462461" cy="7694358"/>
          </a:xfrm>
          <a:custGeom>
            <a:avLst/>
            <a:gdLst/>
            <a:ahLst/>
            <a:cxnLst/>
            <a:rect r="r" b="b" t="t" l="l"/>
            <a:pathLst>
              <a:path h="7694358" w="3462461">
                <a:moveTo>
                  <a:pt x="0" y="0"/>
                </a:moveTo>
                <a:lnTo>
                  <a:pt x="3462461" y="0"/>
                </a:lnTo>
                <a:lnTo>
                  <a:pt x="3462461" y="7694358"/>
                </a:lnTo>
                <a:lnTo>
                  <a:pt x="0" y="76943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0575" y="3711966"/>
            <a:ext cx="11635426" cy="5003971"/>
            <a:chOff x="0" y="0"/>
            <a:chExt cx="15513901" cy="66719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72997" y="172997"/>
              <a:ext cx="15340904" cy="6498965"/>
            </a:xfrm>
            <a:custGeom>
              <a:avLst/>
              <a:gdLst/>
              <a:ahLst/>
              <a:cxnLst/>
              <a:rect r="r" b="b" t="t" l="l"/>
              <a:pathLst>
                <a:path h="6498965" w="15340904">
                  <a:moveTo>
                    <a:pt x="0" y="0"/>
                  </a:moveTo>
                  <a:lnTo>
                    <a:pt x="15340904" y="0"/>
                  </a:lnTo>
                  <a:lnTo>
                    <a:pt x="15340904" y="6498965"/>
                  </a:lnTo>
                  <a:lnTo>
                    <a:pt x="0" y="6498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340904" cy="6498965"/>
            </a:xfrm>
            <a:custGeom>
              <a:avLst/>
              <a:gdLst/>
              <a:ahLst/>
              <a:cxnLst/>
              <a:rect r="r" b="b" t="t" l="l"/>
              <a:pathLst>
                <a:path h="6498965" w="15340904">
                  <a:moveTo>
                    <a:pt x="0" y="0"/>
                  </a:moveTo>
                  <a:lnTo>
                    <a:pt x="15340904" y="0"/>
                  </a:lnTo>
                  <a:lnTo>
                    <a:pt x="15340904" y="6498965"/>
                  </a:lnTo>
                  <a:lnTo>
                    <a:pt x="0" y="6498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84418" y="4004592"/>
            <a:ext cx="7708199" cy="493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El estudiante puede acceder a toda su información académica desde la aplicación.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Funciones: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Consulta de matrícula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Consulta de horarios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Visualización de cursos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Consulta de información académica</a:t>
            </a: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-5813165">
            <a:off x="8808545" y="5125096"/>
            <a:ext cx="1148839" cy="1926407"/>
          </a:xfrm>
          <a:custGeom>
            <a:avLst/>
            <a:gdLst/>
            <a:ahLst/>
            <a:cxnLst/>
            <a:rect r="r" b="b" t="t" l="l"/>
            <a:pathLst>
              <a:path h="1926407" w="1148839">
                <a:moveTo>
                  <a:pt x="0" y="0"/>
                </a:moveTo>
                <a:lnTo>
                  <a:pt x="1148839" y="0"/>
                </a:lnTo>
                <a:lnTo>
                  <a:pt x="1148839" y="1926407"/>
                </a:lnTo>
                <a:lnTo>
                  <a:pt x="0" y="19264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266707">
            <a:off x="9527437" y="7352359"/>
            <a:ext cx="1646309" cy="1577463"/>
          </a:xfrm>
          <a:custGeom>
            <a:avLst/>
            <a:gdLst/>
            <a:ahLst/>
            <a:cxnLst/>
            <a:rect r="r" b="b" t="t" l="l"/>
            <a:pathLst>
              <a:path h="1577463" w="1646309">
                <a:moveTo>
                  <a:pt x="0" y="0"/>
                </a:moveTo>
                <a:lnTo>
                  <a:pt x="1646309" y="0"/>
                </a:lnTo>
                <a:lnTo>
                  <a:pt x="1646309" y="1577463"/>
                </a:lnTo>
                <a:lnTo>
                  <a:pt x="0" y="15774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62328">
            <a:off x="8546752" y="1527016"/>
            <a:ext cx="6164139" cy="1019885"/>
          </a:xfrm>
          <a:custGeom>
            <a:avLst/>
            <a:gdLst/>
            <a:ahLst/>
            <a:cxnLst/>
            <a:rect r="r" b="b" t="t" l="l"/>
            <a:pathLst>
              <a:path h="1019885" w="6164139">
                <a:moveTo>
                  <a:pt x="0" y="0"/>
                </a:moveTo>
                <a:lnTo>
                  <a:pt x="6164139" y="0"/>
                </a:lnTo>
                <a:lnTo>
                  <a:pt x="6164139" y="1019884"/>
                </a:lnTo>
                <a:lnTo>
                  <a:pt x="0" y="101988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-154099" y="504825"/>
            <a:ext cx="11556687" cy="1708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</a:pPr>
            <a:r>
              <a:rPr lang="en-US" sz="10000">
                <a:solidFill>
                  <a:srgbClr val="FFCEDB"/>
                </a:solidFill>
                <a:latin typeface="Blueberry"/>
                <a:ea typeface="Blueberry"/>
                <a:cs typeface="Blueberry"/>
                <a:sym typeface="Blueberry"/>
              </a:rPr>
              <a:t>Estudiante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962328">
            <a:off x="471502" y="3014066"/>
            <a:ext cx="4771080" cy="789397"/>
          </a:xfrm>
          <a:custGeom>
            <a:avLst/>
            <a:gdLst/>
            <a:ahLst/>
            <a:cxnLst/>
            <a:rect r="r" b="b" t="t" l="l"/>
            <a:pathLst>
              <a:path h="789397" w="4771080">
                <a:moveTo>
                  <a:pt x="0" y="0"/>
                </a:moveTo>
                <a:lnTo>
                  <a:pt x="4771079" y="0"/>
                </a:lnTo>
                <a:lnTo>
                  <a:pt x="4771079" y="789397"/>
                </a:lnTo>
                <a:lnTo>
                  <a:pt x="0" y="78939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823278" y="417282"/>
            <a:ext cx="4906404" cy="9620531"/>
            <a:chOff x="0" y="0"/>
            <a:chExt cx="1292222" cy="25338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92222" cy="2533802"/>
            </a:xfrm>
            <a:custGeom>
              <a:avLst/>
              <a:gdLst/>
              <a:ahLst/>
              <a:cxnLst/>
              <a:rect r="r" b="b" t="t" l="l"/>
              <a:pathLst>
                <a:path h="2533802" w="1292222">
                  <a:moveTo>
                    <a:pt x="0" y="0"/>
                  </a:moveTo>
                  <a:lnTo>
                    <a:pt x="1292222" y="0"/>
                  </a:lnTo>
                  <a:lnTo>
                    <a:pt x="1292222" y="2533802"/>
                  </a:lnTo>
                  <a:lnTo>
                    <a:pt x="0" y="2533802"/>
                  </a:lnTo>
                  <a:close/>
                </a:path>
              </a:pathLst>
            </a:custGeom>
            <a:solidFill>
              <a:srgbClr val="FFCED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292222" cy="2571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136894" y="818360"/>
            <a:ext cx="4279172" cy="9053482"/>
          </a:xfrm>
          <a:custGeom>
            <a:avLst/>
            <a:gdLst/>
            <a:ahLst/>
            <a:cxnLst/>
            <a:rect r="r" b="b" t="t" l="l"/>
            <a:pathLst>
              <a:path h="9053482" w="4279172">
                <a:moveTo>
                  <a:pt x="0" y="0"/>
                </a:moveTo>
                <a:lnTo>
                  <a:pt x="4279172" y="0"/>
                </a:lnTo>
                <a:lnTo>
                  <a:pt x="4279172" y="9053481"/>
                </a:lnTo>
                <a:lnTo>
                  <a:pt x="0" y="905348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69" t="-2271" r="-394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54175" y="1031977"/>
            <a:ext cx="4219610" cy="8226323"/>
            <a:chOff x="0" y="0"/>
            <a:chExt cx="1292222" cy="25192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2222" cy="2519245"/>
            </a:xfrm>
            <a:custGeom>
              <a:avLst/>
              <a:gdLst/>
              <a:ahLst/>
              <a:cxnLst/>
              <a:rect r="r" b="b" t="t" l="l"/>
              <a:pathLst>
                <a:path h="2519245" w="1292222">
                  <a:moveTo>
                    <a:pt x="0" y="0"/>
                  </a:moveTo>
                  <a:lnTo>
                    <a:pt x="1292222" y="0"/>
                  </a:lnTo>
                  <a:lnTo>
                    <a:pt x="1292222" y="2519245"/>
                  </a:lnTo>
                  <a:lnTo>
                    <a:pt x="0" y="2519245"/>
                  </a:lnTo>
                  <a:close/>
                </a:path>
              </a:pathLst>
            </a:custGeom>
            <a:solidFill>
              <a:srgbClr val="FFCED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92222" cy="2557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952303" y="1031977"/>
            <a:ext cx="4219610" cy="8226323"/>
            <a:chOff x="0" y="0"/>
            <a:chExt cx="1292222" cy="2519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2222" cy="2519245"/>
            </a:xfrm>
            <a:custGeom>
              <a:avLst/>
              <a:gdLst/>
              <a:ahLst/>
              <a:cxnLst/>
              <a:rect r="r" b="b" t="t" l="l"/>
              <a:pathLst>
                <a:path h="2519245" w="1292222">
                  <a:moveTo>
                    <a:pt x="0" y="0"/>
                  </a:moveTo>
                  <a:lnTo>
                    <a:pt x="1292222" y="0"/>
                  </a:lnTo>
                  <a:lnTo>
                    <a:pt x="1292222" y="2519245"/>
                  </a:lnTo>
                  <a:lnTo>
                    <a:pt x="0" y="2519245"/>
                  </a:lnTo>
                  <a:close/>
                </a:path>
              </a:pathLst>
            </a:custGeom>
            <a:solidFill>
              <a:srgbClr val="FFCED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92222" cy="2557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450431" y="1031977"/>
            <a:ext cx="4219610" cy="8226323"/>
            <a:chOff x="0" y="0"/>
            <a:chExt cx="1292222" cy="25192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2222" cy="2519245"/>
            </a:xfrm>
            <a:custGeom>
              <a:avLst/>
              <a:gdLst/>
              <a:ahLst/>
              <a:cxnLst/>
              <a:rect r="r" b="b" t="t" l="l"/>
              <a:pathLst>
                <a:path h="2519245" w="1292222">
                  <a:moveTo>
                    <a:pt x="0" y="0"/>
                  </a:moveTo>
                  <a:lnTo>
                    <a:pt x="1292222" y="0"/>
                  </a:lnTo>
                  <a:lnTo>
                    <a:pt x="1292222" y="2519245"/>
                  </a:lnTo>
                  <a:lnTo>
                    <a:pt x="0" y="2519245"/>
                  </a:lnTo>
                  <a:close/>
                </a:path>
              </a:pathLst>
            </a:custGeom>
            <a:solidFill>
              <a:srgbClr val="FFCED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92222" cy="2557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849215" y="1024295"/>
            <a:ext cx="4219610" cy="8226323"/>
            <a:chOff x="0" y="0"/>
            <a:chExt cx="1292222" cy="25192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92222" cy="2519245"/>
            </a:xfrm>
            <a:custGeom>
              <a:avLst/>
              <a:gdLst/>
              <a:ahLst/>
              <a:cxnLst/>
              <a:rect r="r" b="b" t="t" l="l"/>
              <a:pathLst>
                <a:path h="2519245" w="1292222">
                  <a:moveTo>
                    <a:pt x="0" y="0"/>
                  </a:moveTo>
                  <a:lnTo>
                    <a:pt x="1292222" y="0"/>
                  </a:lnTo>
                  <a:lnTo>
                    <a:pt x="1292222" y="2519245"/>
                  </a:lnTo>
                  <a:lnTo>
                    <a:pt x="0" y="2519245"/>
                  </a:lnTo>
                  <a:close/>
                </a:path>
              </a:pathLst>
            </a:custGeom>
            <a:solidFill>
              <a:srgbClr val="FFCED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292222" cy="2557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39892" y="1306149"/>
            <a:ext cx="3448177" cy="7662615"/>
          </a:xfrm>
          <a:custGeom>
            <a:avLst/>
            <a:gdLst/>
            <a:ahLst/>
            <a:cxnLst/>
            <a:rect r="r" b="b" t="t" l="l"/>
            <a:pathLst>
              <a:path h="7662615" w="3448177">
                <a:moveTo>
                  <a:pt x="0" y="0"/>
                </a:moveTo>
                <a:lnTo>
                  <a:pt x="3448177" y="0"/>
                </a:lnTo>
                <a:lnTo>
                  <a:pt x="3448177" y="7662615"/>
                </a:lnTo>
                <a:lnTo>
                  <a:pt x="0" y="76626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338020" y="1337891"/>
            <a:ext cx="3448177" cy="7662615"/>
          </a:xfrm>
          <a:custGeom>
            <a:avLst/>
            <a:gdLst/>
            <a:ahLst/>
            <a:cxnLst/>
            <a:rect r="r" b="b" t="t" l="l"/>
            <a:pathLst>
              <a:path h="7662615" w="3448177">
                <a:moveTo>
                  <a:pt x="0" y="0"/>
                </a:moveTo>
                <a:lnTo>
                  <a:pt x="3448177" y="0"/>
                </a:lnTo>
                <a:lnTo>
                  <a:pt x="3448177" y="7662616"/>
                </a:lnTo>
                <a:lnTo>
                  <a:pt x="0" y="76626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848751" y="1393904"/>
            <a:ext cx="3422971" cy="7606603"/>
          </a:xfrm>
          <a:custGeom>
            <a:avLst/>
            <a:gdLst/>
            <a:ahLst/>
            <a:cxnLst/>
            <a:rect r="r" b="b" t="t" l="l"/>
            <a:pathLst>
              <a:path h="7606603" w="3422971">
                <a:moveTo>
                  <a:pt x="0" y="0"/>
                </a:moveTo>
                <a:lnTo>
                  <a:pt x="3422971" y="0"/>
                </a:lnTo>
                <a:lnTo>
                  <a:pt x="3422971" y="7606603"/>
                </a:lnTo>
                <a:lnTo>
                  <a:pt x="0" y="76066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287500" y="1306149"/>
            <a:ext cx="3433893" cy="7630873"/>
          </a:xfrm>
          <a:custGeom>
            <a:avLst/>
            <a:gdLst/>
            <a:ahLst/>
            <a:cxnLst/>
            <a:rect r="r" b="b" t="t" l="l"/>
            <a:pathLst>
              <a:path h="7630873" w="3433893">
                <a:moveTo>
                  <a:pt x="0" y="0"/>
                </a:moveTo>
                <a:lnTo>
                  <a:pt x="3433893" y="0"/>
                </a:lnTo>
                <a:lnTo>
                  <a:pt x="3433893" y="7630872"/>
                </a:lnTo>
                <a:lnTo>
                  <a:pt x="0" y="76308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402833" y="2567111"/>
            <a:ext cx="5785738" cy="7349391"/>
            <a:chOff x="0" y="0"/>
            <a:chExt cx="1316589" cy="16724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16589" cy="1672411"/>
            </a:xfrm>
            <a:custGeom>
              <a:avLst/>
              <a:gdLst/>
              <a:ahLst/>
              <a:cxnLst/>
              <a:rect r="r" b="b" t="t" l="l"/>
              <a:pathLst>
                <a:path h="1672411" w="1316589">
                  <a:moveTo>
                    <a:pt x="1156569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512391"/>
                  </a:lnTo>
                  <a:lnTo>
                    <a:pt x="160020" y="1672411"/>
                  </a:lnTo>
                  <a:lnTo>
                    <a:pt x="1156569" y="1672411"/>
                  </a:lnTo>
                  <a:lnTo>
                    <a:pt x="1316589" y="1512391"/>
                  </a:lnTo>
                  <a:lnTo>
                    <a:pt x="1316589" y="160020"/>
                  </a:lnTo>
                  <a:lnTo>
                    <a:pt x="1156569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C213E"/>
              </a:solidFill>
              <a:prstDash val="dash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63500" y="25400"/>
              <a:ext cx="1189589" cy="1583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846086" y="400820"/>
            <a:ext cx="9435944" cy="2487658"/>
          </a:xfrm>
          <a:custGeom>
            <a:avLst/>
            <a:gdLst/>
            <a:ahLst/>
            <a:cxnLst/>
            <a:rect r="r" b="b" t="t" l="l"/>
            <a:pathLst>
              <a:path h="2487658" w="9435944">
                <a:moveTo>
                  <a:pt x="0" y="0"/>
                </a:moveTo>
                <a:lnTo>
                  <a:pt x="9435943" y="0"/>
                </a:lnTo>
                <a:lnTo>
                  <a:pt x="9435943" y="2487658"/>
                </a:lnTo>
                <a:lnTo>
                  <a:pt x="0" y="24876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693686" y="248420"/>
            <a:ext cx="9435944" cy="2487658"/>
          </a:xfrm>
          <a:custGeom>
            <a:avLst/>
            <a:gdLst/>
            <a:ahLst/>
            <a:cxnLst/>
            <a:rect r="r" b="b" t="t" l="l"/>
            <a:pathLst>
              <a:path h="2487658" w="9435944">
                <a:moveTo>
                  <a:pt x="0" y="0"/>
                </a:moveTo>
                <a:lnTo>
                  <a:pt x="9435943" y="0"/>
                </a:lnTo>
                <a:lnTo>
                  <a:pt x="9435943" y="2487658"/>
                </a:lnTo>
                <a:lnTo>
                  <a:pt x="0" y="24876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138788" y="2939807"/>
            <a:ext cx="4630361" cy="6556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El sistema utiliza una arquitectura Serverless, donde una aplicación Android desarrollada en Kotlin envía solicitudes en formato JSON mediante Retrofit a Amazon API Gateway. Este servicio gestiona la seguridad y redirige las peticiones a una función AWS Lambda que se ejecuta en Node.js. En lugar de usar una base de datos tradicional, la función Lambda organiza y consulta los datos mediante parámetros de consulta (?tipo=), almacenándolos temporalmente en memoria para lograr una respuesta rápida.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741533" y="56862"/>
            <a:ext cx="1794146" cy="1614732"/>
          </a:xfrm>
          <a:custGeom>
            <a:avLst/>
            <a:gdLst/>
            <a:ahLst/>
            <a:cxnLst/>
            <a:rect r="r" b="b" t="t" l="l"/>
            <a:pathLst>
              <a:path h="1614732" w="1794146">
                <a:moveTo>
                  <a:pt x="0" y="0"/>
                </a:moveTo>
                <a:lnTo>
                  <a:pt x="1794146" y="0"/>
                </a:lnTo>
                <a:lnTo>
                  <a:pt x="1794146" y="1614731"/>
                </a:lnTo>
                <a:lnTo>
                  <a:pt x="0" y="16147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5159" y="7999864"/>
            <a:ext cx="2473447" cy="2307052"/>
          </a:xfrm>
          <a:custGeom>
            <a:avLst/>
            <a:gdLst/>
            <a:ahLst/>
            <a:cxnLst/>
            <a:rect r="r" b="b" t="t" l="l"/>
            <a:pathLst>
              <a:path h="2307052" w="2473447">
                <a:moveTo>
                  <a:pt x="0" y="0"/>
                </a:moveTo>
                <a:lnTo>
                  <a:pt x="2473447" y="0"/>
                </a:lnTo>
                <a:lnTo>
                  <a:pt x="2473447" y="2307051"/>
                </a:lnTo>
                <a:lnTo>
                  <a:pt x="0" y="23070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94417" y="124595"/>
            <a:ext cx="13339281" cy="222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FFCEDB"/>
                </a:solidFill>
                <a:latin typeface="Blueberry"/>
                <a:ea typeface="Blueberry"/>
                <a:cs typeface="Blueberry"/>
                <a:sym typeface="Blueberry"/>
              </a:rPr>
              <a:t>Arquitectura </a:t>
            </a:r>
          </a:p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FFCEDB"/>
                </a:solidFill>
                <a:latin typeface="Blueberry"/>
                <a:ea typeface="Blueberry"/>
                <a:cs typeface="Blueberry"/>
                <a:sym typeface="Blueberry"/>
              </a:rPr>
              <a:t>de Infraestructura Serverless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295702" y="503652"/>
            <a:ext cx="2473447" cy="2307052"/>
          </a:xfrm>
          <a:custGeom>
            <a:avLst/>
            <a:gdLst/>
            <a:ahLst/>
            <a:cxnLst/>
            <a:rect r="r" b="b" t="t" l="l"/>
            <a:pathLst>
              <a:path h="2307052" w="2473447">
                <a:moveTo>
                  <a:pt x="0" y="0"/>
                </a:moveTo>
                <a:lnTo>
                  <a:pt x="2473447" y="0"/>
                </a:lnTo>
                <a:lnTo>
                  <a:pt x="2473447" y="2307052"/>
                </a:lnTo>
                <a:lnTo>
                  <a:pt x="0" y="23070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5159" y="3000720"/>
            <a:ext cx="12973630" cy="7005494"/>
          </a:xfrm>
          <a:custGeom>
            <a:avLst/>
            <a:gdLst/>
            <a:ahLst/>
            <a:cxnLst/>
            <a:rect r="r" b="b" t="t" l="l"/>
            <a:pathLst>
              <a:path h="7005494" w="12973630">
                <a:moveTo>
                  <a:pt x="0" y="0"/>
                </a:moveTo>
                <a:lnTo>
                  <a:pt x="12973629" y="0"/>
                </a:lnTo>
                <a:lnTo>
                  <a:pt x="12973629" y="7005494"/>
                </a:lnTo>
                <a:lnTo>
                  <a:pt x="0" y="700549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34" t="0" r="-234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813165">
            <a:off x="1479406" y="1772875"/>
            <a:ext cx="1148839" cy="1926407"/>
          </a:xfrm>
          <a:custGeom>
            <a:avLst/>
            <a:gdLst/>
            <a:ahLst/>
            <a:cxnLst/>
            <a:rect r="r" b="b" t="t" l="l"/>
            <a:pathLst>
              <a:path h="1926407" w="1148839">
                <a:moveTo>
                  <a:pt x="0" y="0"/>
                </a:moveTo>
                <a:lnTo>
                  <a:pt x="1148839" y="0"/>
                </a:lnTo>
                <a:lnTo>
                  <a:pt x="1148839" y="1926407"/>
                </a:lnTo>
                <a:lnTo>
                  <a:pt x="0" y="19264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80929" y="580007"/>
            <a:ext cx="9435944" cy="2487658"/>
          </a:xfrm>
          <a:custGeom>
            <a:avLst/>
            <a:gdLst/>
            <a:ahLst/>
            <a:cxnLst/>
            <a:rect r="r" b="b" t="t" l="l"/>
            <a:pathLst>
              <a:path h="2487658" w="9435944">
                <a:moveTo>
                  <a:pt x="0" y="0"/>
                </a:moveTo>
                <a:lnTo>
                  <a:pt x="9435944" y="0"/>
                </a:lnTo>
                <a:lnTo>
                  <a:pt x="9435944" y="2487658"/>
                </a:lnTo>
                <a:lnTo>
                  <a:pt x="0" y="24876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28529" y="427607"/>
            <a:ext cx="9435944" cy="2487658"/>
          </a:xfrm>
          <a:custGeom>
            <a:avLst/>
            <a:gdLst/>
            <a:ahLst/>
            <a:cxnLst/>
            <a:rect r="r" b="b" t="t" l="l"/>
            <a:pathLst>
              <a:path h="2487658" w="9435944">
                <a:moveTo>
                  <a:pt x="0" y="0"/>
                </a:moveTo>
                <a:lnTo>
                  <a:pt x="9435944" y="0"/>
                </a:lnTo>
                <a:lnTo>
                  <a:pt x="9435944" y="2487658"/>
                </a:lnTo>
                <a:lnTo>
                  <a:pt x="0" y="24876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00500" y="722134"/>
            <a:ext cx="11556687" cy="1708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</a:pPr>
            <a:r>
              <a:rPr lang="en-US" sz="10000">
                <a:solidFill>
                  <a:srgbClr val="FFCEDB"/>
                </a:solidFill>
                <a:latin typeface="Blueberry"/>
                <a:ea typeface="Blueberry"/>
                <a:cs typeface="Blueberry"/>
                <a:sym typeface="Blueberry"/>
              </a:rPr>
              <a:t>Conclusiones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84476" y="3827006"/>
            <a:ext cx="15769376" cy="5775588"/>
            <a:chOff x="0" y="0"/>
            <a:chExt cx="21025835" cy="7700784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0499632" cy="7488555"/>
              <a:chOff x="0" y="0"/>
              <a:chExt cx="4223933" cy="154301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23933" cy="1543011"/>
              </a:xfrm>
              <a:custGeom>
                <a:avLst/>
                <a:gdLst/>
                <a:ahLst/>
                <a:cxnLst/>
                <a:rect r="r" b="b" t="t" l="l"/>
                <a:pathLst>
                  <a:path h="1543011" w="4223933">
                    <a:moveTo>
                      <a:pt x="25681" y="0"/>
                    </a:moveTo>
                    <a:lnTo>
                      <a:pt x="4198252" y="0"/>
                    </a:lnTo>
                    <a:cubicBezTo>
                      <a:pt x="4205063" y="0"/>
                      <a:pt x="4211595" y="2706"/>
                      <a:pt x="4216412" y="7522"/>
                    </a:cubicBezTo>
                    <a:cubicBezTo>
                      <a:pt x="4221228" y="12338"/>
                      <a:pt x="4223933" y="18870"/>
                      <a:pt x="4223933" y="25681"/>
                    </a:cubicBezTo>
                    <a:lnTo>
                      <a:pt x="4223933" y="1517330"/>
                    </a:lnTo>
                    <a:cubicBezTo>
                      <a:pt x="4223933" y="1531513"/>
                      <a:pt x="4212436" y="1543011"/>
                      <a:pt x="4198252" y="1543011"/>
                    </a:cubicBezTo>
                    <a:lnTo>
                      <a:pt x="25681" y="1543011"/>
                    </a:lnTo>
                    <a:cubicBezTo>
                      <a:pt x="11498" y="1543011"/>
                      <a:pt x="0" y="1531513"/>
                      <a:pt x="0" y="1517330"/>
                    </a:cubicBezTo>
                    <a:lnTo>
                      <a:pt x="0" y="25681"/>
                    </a:lnTo>
                    <a:cubicBezTo>
                      <a:pt x="0" y="11498"/>
                      <a:pt x="11498" y="0"/>
                      <a:pt x="25681" y="0"/>
                    </a:cubicBezTo>
                    <a:close/>
                  </a:path>
                </a:pathLst>
              </a:custGeom>
              <a:solidFill>
                <a:srgbClr val="FFCEDB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23933" cy="15811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526202" y="212228"/>
              <a:ext cx="20499632" cy="7488555"/>
              <a:chOff x="0" y="0"/>
              <a:chExt cx="4223933" cy="154301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223933" cy="1543011"/>
              </a:xfrm>
              <a:custGeom>
                <a:avLst/>
                <a:gdLst/>
                <a:ahLst/>
                <a:cxnLst/>
                <a:rect r="r" b="b" t="t" l="l"/>
                <a:pathLst>
                  <a:path h="1543011" w="4223933">
                    <a:moveTo>
                      <a:pt x="25681" y="0"/>
                    </a:moveTo>
                    <a:lnTo>
                      <a:pt x="4198252" y="0"/>
                    </a:lnTo>
                    <a:cubicBezTo>
                      <a:pt x="4205063" y="0"/>
                      <a:pt x="4211595" y="2706"/>
                      <a:pt x="4216412" y="7522"/>
                    </a:cubicBezTo>
                    <a:cubicBezTo>
                      <a:pt x="4221228" y="12338"/>
                      <a:pt x="4223933" y="18870"/>
                      <a:pt x="4223933" y="25681"/>
                    </a:cubicBezTo>
                    <a:lnTo>
                      <a:pt x="4223933" y="1517330"/>
                    </a:lnTo>
                    <a:cubicBezTo>
                      <a:pt x="4223933" y="1531513"/>
                      <a:pt x="4212436" y="1543011"/>
                      <a:pt x="4198252" y="1543011"/>
                    </a:cubicBezTo>
                    <a:lnTo>
                      <a:pt x="25681" y="1543011"/>
                    </a:lnTo>
                    <a:cubicBezTo>
                      <a:pt x="11498" y="1543011"/>
                      <a:pt x="0" y="1531513"/>
                      <a:pt x="0" y="1517330"/>
                    </a:cubicBezTo>
                    <a:lnTo>
                      <a:pt x="0" y="25681"/>
                    </a:lnTo>
                    <a:cubicBezTo>
                      <a:pt x="0" y="11498"/>
                      <a:pt x="11498" y="0"/>
                      <a:pt x="2568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4223933" cy="15811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4" id="14"/>
          <p:cNvSpPr txBox="true"/>
          <p:nvPr/>
        </p:nvSpPr>
        <p:spPr>
          <a:xfrm rot="0">
            <a:off x="1181548" y="4368638"/>
            <a:ext cx="15064944" cy="503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Se desarrolló una aplicación móvil funcional que optimiza la gestión académica con una interfaz adaptada a cada tipo de usuario.</a:t>
            </a:r>
          </a:p>
          <a:p>
            <a:pPr algn="ctr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Android Studio y Kotlin permitieron crear una aplicación moderna, eficiente y compatible con los estándares de Android.</a:t>
            </a:r>
          </a:p>
          <a:p>
            <a:pPr algn="ctr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La i</a:t>
            </a:r>
            <a:r>
              <a:rPr lang="en-US" sz="32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ntegración con AWS mejoró la disponibilidad, escalabilidad y seguridad de la información.</a:t>
            </a:r>
          </a:p>
          <a:p>
            <a:pPr algn="ctr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8C213E"/>
                </a:solidFill>
                <a:latin typeface="Dekko"/>
                <a:ea typeface="Dekko"/>
                <a:cs typeface="Dekko"/>
                <a:sym typeface="Dekko"/>
              </a:rPr>
              <a:t>La digitalización de los procesos académicos incrementó la eficiencia administrativa, reduciendo tiempos de atención y errores en la gestión de la información.</a:t>
            </a:r>
          </a:p>
          <a:p>
            <a:pPr algn="ctr">
              <a:lnSpc>
                <a:spcPts val="4480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-1142132">
            <a:off x="1561658" y="2618775"/>
            <a:ext cx="1928823" cy="897779"/>
          </a:xfrm>
          <a:custGeom>
            <a:avLst/>
            <a:gdLst/>
            <a:ahLst/>
            <a:cxnLst/>
            <a:rect r="r" b="b" t="t" l="l"/>
            <a:pathLst>
              <a:path h="897779" w="1928823">
                <a:moveTo>
                  <a:pt x="0" y="0"/>
                </a:moveTo>
                <a:lnTo>
                  <a:pt x="1928823" y="0"/>
                </a:lnTo>
                <a:lnTo>
                  <a:pt x="1928823" y="897780"/>
                </a:lnTo>
                <a:lnTo>
                  <a:pt x="0" y="8977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435801" y="620405"/>
            <a:ext cx="2056025" cy="1708370"/>
          </a:xfrm>
          <a:custGeom>
            <a:avLst/>
            <a:gdLst/>
            <a:ahLst/>
            <a:cxnLst/>
            <a:rect r="r" b="b" t="t" l="l"/>
            <a:pathLst>
              <a:path h="1708370" w="2056025">
                <a:moveTo>
                  <a:pt x="0" y="0"/>
                </a:moveTo>
                <a:lnTo>
                  <a:pt x="2056025" y="0"/>
                </a:lnTo>
                <a:lnTo>
                  <a:pt x="2056025" y="1708370"/>
                </a:lnTo>
                <a:lnTo>
                  <a:pt x="0" y="17083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84476" y="1028700"/>
            <a:ext cx="1527558" cy="1463678"/>
          </a:xfrm>
          <a:custGeom>
            <a:avLst/>
            <a:gdLst/>
            <a:ahLst/>
            <a:cxnLst/>
            <a:rect r="r" b="b" t="t" l="l"/>
            <a:pathLst>
              <a:path h="1463678" w="1527558">
                <a:moveTo>
                  <a:pt x="0" y="0"/>
                </a:moveTo>
                <a:lnTo>
                  <a:pt x="1527558" y="0"/>
                </a:lnTo>
                <a:lnTo>
                  <a:pt x="1527558" y="1463678"/>
                </a:lnTo>
                <a:lnTo>
                  <a:pt x="0" y="14636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813165">
            <a:off x="2938671" y="830689"/>
            <a:ext cx="1148839" cy="1926407"/>
          </a:xfrm>
          <a:custGeom>
            <a:avLst/>
            <a:gdLst/>
            <a:ahLst/>
            <a:cxnLst/>
            <a:rect r="r" b="b" t="t" l="l"/>
            <a:pathLst>
              <a:path h="1926407" w="1148839">
                <a:moveTo>
                  <a:pt x="0" y="0"/>
                </a:moveTo>
                <a:lnTo>
                  <a:pt x="1148839" y="0"/>
                </a:lnTo>
                <a:lnTo>
                  <a:pt x="1148839" y="1926407"/>
                </a:lnTo>
                <a:lnTo>
                  <a:pt x="0" y="192640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1142132">
            <a:off x="16469334" y="8863376"/>
            <a:ext cx="1928823" cy="897779"/>
          </a:xfrm>
          <a:custGeom>
            <a:avLst/>
            <a:gdLst/>
            <a:ahLst/>
            <a:cxnLst/>
            <a:rect r="r" b="b" t="t" l="l"/>
            <a:pathLst>
              <a:path h="897779" w="1928823">
                <a:moveTo>
                  <a:pt x="0" y="0"/>
                </a:moveTo>
                <a:lnTo>
                  <a:pt x="1928822" y="0"/>
                </a:lnTo>
                <a:lnTo>
                  <a:pt x="1928822" y="897779"/>
                </a:lnTo>
                <a:lnTo>
                  <a:pt x="0" y="8977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3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1100" y="2713759"/>
            <a:ext cx="16230600" cy="5164282"/>
          </a:xfrm>
          <a:custGeom>
            <a:avLst/>
            <a:gdLst/>
            <a:ahLst/>
            <a:cxnLst/>
            <a:rect r="r" b="b" t="t" l="l"/>
            <a:pathLst>
              <a:path h="5164282" w="16230600">
                <a:moveTo>
                  <a:pt x="0" y="0"/>
                </a:moveTo>
                <a:lnTo>
                  <a:pt x="16230600" y="0"/>
                </a:lnTo>
                <a:lnTo>
                  <a:pt x="16230600" y="5164282"/>
                </a:lnTo>
                <a:lnTo>
                  <a:pt x="0" y="5164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561359"/>
            <a:ext cx="16230600" cy="5164282"/>
          </a:xfrm>
          <a:custGeom>
            <a:avLst/>
            <a:gdLst/>
            <a:ahLst/>
            <a:cxnLst/>
            <a:rect r="r" b="b" t="t" l="l"/>
            <a:pathLst>
              <a:path h="5164282" w="16230600">
                <a:moveTo>
                  <a:pt x="0" y="0"/>
                </a:moveTo>
                <a:lnTo>
                  <a:pt x="16230600" y="0"/>
                </a:lnTo>
                <a:lnTo>
                  <a:pt x="16230600" y="5164282"/>
                </a:lnTo>
                <a:lnTo>
                  <a:pt x="0" y="5164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40666" y="3105049"/>
            <a:ext cx="15206668" cy="2663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63"/>
              </a:lnSpc>
            </a:pPr>
            <a:r>
              <a:rPr lang="en-US" sz="15616">
                <a:solidFill>
                  <a:srgbClr val="FFCEDB"/>
                </a:solidFill>
                <a:latin typeface="Blueberry"/>
                <a:ea typeface="Blueberry"/>
                <a:cs typeface="Blueberry"/>
                <a:sym typeface="Blueberry"/>
              </a:rPr>
              <a:t>Muchas Gracias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40666" y="6490770"/>
            <a:ext cx="1583973" cy="1509094"/>
          </a:xfrm>
          <a:custGeom>
            <a:avLst/>
            <a:gdLst/>
            <a:ahLst/>
            <a:cxnLst/>
            <a:rect r="r" b="b" t="t" l="l"/>
            <a:pathLst>
              <a:path h="1509094" w="1583973">
                <a:moveTo>
                  <a:pt x="0" y="0"/>
                </a:moveTo>
                <a:lnTo>
                  <a:pt x="1583973" y="0"/>
                </a:lnTo>
                <a:lnTo>
                  <a:pt x="1583973" y="1509094"/>
                </a:lnTo>
                <a:lnTo>
                  <a:pt x="0" y="15090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827727" y="1959212"/>
            <a:ext cx="1583973" cy="1509094"/>
          </a:xfrm>
          <a:custGeom>
            <a:avLst/>
            <a:gdLst/>
            <a:ahLst/>
            <a:cxnLst/>
            <a:rect r="r" b="b" t="t" l="l"/>
            <a:pathLst>
              <a:path h="1509094" w="1583973">
                <a:moveTo>
                  <a:pt x="0" y="0"/>
                </a:moveTo>
                <a:lnTo>
                  <a:pt x="1583973" y="0"/>
                </a:lnTo>
                <a:lnTo>
                  <a:pt x="1583973" y="1509094"/>
                </a:lnTo>
                <a:lnTo>
                  <a:pt x="0" y="15090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494895">
            <a:off x="15859445" y="6292817"/>
            <a:ext cx="1520536" cy="1905000"/>
          </a:xfrm>
          <a:custGeom>
            <a:avLst/>
            <a:gdLst/>
            <a:ahLst/>
            <a:cxnLst/>
            <a:rect r="r" b="b" t="t" l="l"/>
            <a:pathLst>
              <a:path h="1905000" w="1520536">
                <a:moveTo>
                  <a:pt x="0" y="0"/>
                </a:moveTo>
                <a:lnTo>
                  <a:pt x="1520537" y="0"/>
                </a:lnTo>
                <a:lnTo>
                  <a:pt x="1520537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162481">
            <a:off x="-1299805" y="-342533"/>
            <a:ext cx="5144966" cy="1814770"/>
          </a:xfrm>
          <a:custGeom>
            <a:avLst/>
            <a:gdLst/>
            <a:ahLst/>
            <a:cxnLst/>
            <a:rect r="r" b="b" t="t" l="l"/>
            <a:pathLst>
              <a:path h="1814770" w="5144966">
                <a:moveTo>
                  <a:pt x="0" y="0"/>
                </a:moveTo>
                <a:lnTo>
                  <a:pt x="5144967" y="0"/>
                </a:lnTo>
                <a:lnTo>
                  <a:pt x="5144967" y="1814770"/>
                </a:lnTo>
                <a:lnTo>
                  <a:pt x="0" y="181477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DAHOqtHHP2s</dc:identifier>
  <dcterms:modified xsi:type="dcterms:W3CDTF">2011-08-01T06:04:30Z</dcterms:modified>
  <cp:revision>1</cp:revision>
  <dc:title>Pink Pastel and Maroon Cute Simple Playful Group Project Presentation</dc:title>
</cp:coreProperties>
</file>